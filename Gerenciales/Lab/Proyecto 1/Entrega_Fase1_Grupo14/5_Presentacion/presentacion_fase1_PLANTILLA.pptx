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Abre el rol 1. Presenta al equipo y dice en una frase qué es RutaMoto. Máximo 40 segundos: la portada no es donde se ganan puntos.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2. Este es el diagnóstico. Si preguntan por datos duros de mercado, hay que decir con honestidad qué es dato con fuente y qué es supuesto del caso. Inventar una cifra es peor que reconocer el supuesto.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2. La pregunta previsible es "¿por qué repuestos de moto?". Respuesta: es el giro donde el inventario, las órdenes de compra y las cotizaciones existen por necesidad del negocio, no porque la rúbrica los pida. En otro giro habría que justificar la mitad de los módulos a la fuerza.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1. Llenar con la tabla de la sección 4 del informe. Deben ser los mismos objetivos del documento, palabra por palabra: una diapositiva que no coincide con el informe es la forma más fácil de perder credibilidad.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1 y 2, media diapositiva cada uno. No leer los ocho: mencionar los ocho y desarrollar dos, el FODA y el que mejor manejen. El resto está en el informe.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3. La rúbrica pide justificación técnica, costos, ventajas y desventajas. Un cuadro que solo lista funciones sin concluir cae en "necesita mejorar". Decí la desventaja de la opción elegida: reconocerla demuestra que sí comparaste.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4. El argumento fuerte: comparte base de datos con el ERP, así que el cliente registrado en la tienda queda disponible en Ventas sin construir integración por API. Con el plazo que hay, esa integración era el riesgo más grande.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3 y 4. La pregunta que van a hacer: "¿por qué local y no en la nube?". Respuesta: el enunciado permite las dos, y lo que se califica es el manual con capturas, no dónde vive el servidor. Segunda pregunta previsible: "entonces por qué el presupuesto incluye VPS y dominio". Respuesta: el presupuesto es el de RutaMoto como empresa real, que sí pagaría hosting; local es una decisión nuestra de desarrollo. Sabérselo es la diferencia entre dominar el proyecto y haberlo copiado.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3 y 4. Reemplazar los recuadros por capturas reales. Si el catedrático pide demostración en vivo, tener Odoo ya abierto en otra pestaña: levantarlo delante de todos gasta minutos que no sobran.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2. Insertar la imagen del mapa. No leerlo entero: recorrer una sola compra de punta a punta, mostrando dónde entra el e-commerce, dónde el CRM, dónde el ERP y dónde las TIC. Son los cuatro componentes que el enunciado exige que aparezcan.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2. La cadena tiene que cuadrar en voz alta: 8,000 × 2.5% = 200 pedidos; 200 × Q 285 = Q 57,000. Si preguntan por cambiar un número, la respuesta es que hay que mover los demás. Los cinco KPIs son calculables con lo que el ERP registra, que es lo que los hace útiles en la Fase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1. Cerrar en menos de un minuto. La parte de preguntas es donde se juegan los 15 puntos: cualquiera puede recibir cualquier pregunta, así que los cuatro tienen que poder explicar el proyecto completo, no solo su parte.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10058400" cy="1097280"/>
          </a:xfrm>
          <a:prstGeom prst="rect">
            <a:avLst/>
          </a:prstGeom>
          <a:noFill/>
        </p:spPr>
        <p:txBody>
          <a:bodyPr wrap="square">
            <a:spAutoFit/>
          </a:bodyPr>
          <a:lstStyle/>
          <a:p>
            <a:pPr algn="l">
              <a:spcAft>
                <a:spcPts val="600"/>
              </a:spcAft>
            </a:pPr>
            <a:r>
              <a:rPr sz="5400" b="1">
                <a:solidFill>
                  <a:srgbClr val="FFFFFF"/>
                </a:solidFill>
                <a:latin typeface="Segoe UI"/>
              </a:rPr>
              <a:t>RutaMoto</a:t>
            </a:r>
          </a:p>
        </p:txBody>
      </p:sp>
      <p:sp>
        <p:nvSpPr>
          <p:cNvPr id="4" name="TextBox 3"/>
          <p:cNvSpPr txBox="1"/>
          <p:nvPr/>
        </p:nvSpPr>
        <p:spPr>
          <a:xfrm>
            <a:off x="1097280" y="3108960"/>
            <a:ext cx="10058400" cy="914400"/>
          </a:xfrm>
          <a:prstGeom prst="rect">
            <a:avLst/>
          </a:prstGeom>
          <a:noFill/>
        </p:spPr>
        <p:txBody>
          <a:bodyPr wrap="square">
            <a:spAutoFit/>
          </a:bodyPr>
          <a:lstStyle/>
          <a:p>
            <a:pPr algn="l">
              <a:spcAft>
                <a:spcPts val="600"/>
              </a:spcAft>
            </a:pPr>
            <a:r>
              <a:rPr sz="2200" b="0">
                <a:solidFill>
                  <a:srgbClr val="DDE4EE"/>
                </a:solidFill>
                <a:latin typeface="Segoe UI"/>
              </a:rPr>
              <a:t>Transformación Digital en E-Commerce con ERP, CRM y BI</a:t>
            </a:r>
          </a:p>
        </p:txBody>
      </p:sp>
      <p:sp>
        <p:nvSpPr>
          <p:cNvPr id="5" name="TextBox 4"/>
          <p:cNvSpPr txBox="1"/>
          <p:nvPr/>
        </p:nvSpPr>
        <p:spPr>
          <a:xfrm>
            <a:off x="1097280" y="4023360"/>
            <a:ext cx="10058400" cy="1280160"/>
          </a:xfrm>
          <a:prstGeom prst="rect">
            <a:avLst/>
          </a:prstGeom>
          <a:noFill/>
        </p:spPr>
        <p:txBody>
          <a:bodyPr wrap="square">
            <a:spAutoFit/>
          </a:bodyPr>
          <a:lstStyle/>
          <a:p>
            <a:pPr algn="l">
              <a:spcAft>
                <a:spcPts val="600"/>
              </a:spcAft>
            </a:pPr>
            <a:r>
              <a:rPr sz="1600" b="0">
                <a:solidFill>
                  <a:srgbClr val="BBC7D8"/>
                </a:solidFill>
                <a:latin typeface="Segoe UI"/>
              </a:rPr>
              <a:t>Fase 1 — Planificación, diseño y diagnóstico</a:t>
            </a:r>
          </a:p>
          <a:p>
            <a:pPr algn="l">
              <a:spcAft>
                <a:spcPts val="600"/>
              </a:spcAft>
            </a:pPr>
            <a:r>
              <a:rPr sz="1600" b="0">
                <a:solidFill>
                  <a:srgbClr val="BBC7D8"/>
                </a:solidFill>
                <a:latin typeface="Segoe UI"/>
              </a:rPr>
              <a:t>Grupo 14  ·  Sistemas Organizacionales y Gerenciales 1</a:t>
            </a:r>
          </a:p>
          <a:p>
            <a:pPr algn="l">
              <a:spcAft>
                <a:spcPts val="600"/>
              </a:spcAft>
            </a:pPr>
            <a:r>
              <a:rPr sz="1600" b="0">
                <a:solidFill>
                  <a:srgbClr val="BBC7D8"/>
                </a:solidFill>
                <a:latin typeface="Segoe UI"/>
              </a:rPr>
              <a:t>19 de septiembre de 2026</a:t>
            </a:r>
          </a:p>
        </p:txBody>
      </p:sp>
      <p:sp>
        <p:nvSpPr>
          <p:cNvPr id="6" name="TextBox 5"/>
          <p:cNvSpPr txBox="1"/>
          <p:nvPr/>
        </p:nvSpPr>
        <p:spPr>
          <a:xfrm>
            <a:off x="1097280" y="5669280"/>
            <a:ext cx="10058400" cy="731520"/>
          </a:xfrm>
          <a:prstGeom prst="rect">
            <a:avLst/>
          </a:prstGeom>
          <a:noFill/>
        </p:spPr>
        <p:txBody>
          <a:bodyPr wrap="square">
            <a:spAutoFit/>
          </a:bodyPr>
          <a:lstStyle/>
          <a:p>
            <a:pPr algn="l">
              <a:spcAft>
                <a:spcPts val="600"/>
              </a:spcAft>
            </a:pPr>
            <a:r>
              <a:rPr sz="1400" b="0">
                <a:solidFill>
                  <a:srgbClr val="8A9BB5"/>
                </a:solidFill>
                <a:latin typeface="Segoe UI"/>
              </a:rPr>
              <a:t>Santiago Julián Barrera Reyes — 201905884</a:t>
            </a:r>
          </a:p>
          <a:p>
            <a:pPr algn="l">
              <a:spcAft>
                <a:spcPts val="600"/>
              </a:spcAft>
            </a:pPr>
            <a:r>
              <a:rPr sz="1400" b="0">
                <a:solidFill>
                  <a:srgbClr val="8A9BB5"/>
                </a:solidFill>
                <a:latin typeface="Segoe UI"/>
              </a:rPr>
              <a:t>[ integrante rol 2 ]   ·   [ integrante rol 3 ]   ·   [ integrante rol 4 ]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El problema</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Por qué existe este proyecto</a:t>
            </a:r>
          </a:p>
        </p:txBody>
      </p:sp>
      <p:sp>
        <p:nvSpPr>
          <p:cNvPr id="5" name="TextBox 4"/>
          <p:cNvSpPr txBox="1"/>
          <p:nvPr/>
        </p:nvSpPr>
        <p:spPr>
          <a:xfrm>
            <a:off x="822960" y="2011680"/>
            <a:ext cx="10515600" cy="1463040"/>
          </a:xfrm>
          <a:prstGeom prst="rect">
            <a:avLst/>
          </a:prstGeom>
          <a:solidFill>
            <a:srgbClr val="F2F2F2"/>
          </a:solidFill>
          <a:ln>
            <a:noFill/>
          </a:ln>
        </p:spPr>
        <p:txBody>
          <a:bodyPr wrap="square">
            <a:spAutoFit/>
          </a:bodyPr>
          <a:lstStyle/>
          <a:p>
            <a:pPr algn="l">
              <a:spcAft>
                <a:spcPts val="600"/>
              </a:spcAft>
            </a:pPr>
            <a:r>
              <a:rPr sz="2200" b="0">
                <a:solidFill>
                  <a:srgbClr val="1F3A5F"/>
                </a:solidFill>
                <a:latin typeface="Segoe UI"/>
              </a:rPr>
              <a:t>El motociclista guatemalteco compra repuestos yendo al local, sin saber si hay existencia ni cuánto cuesta. El vendedor no lleva registro de a quién le vendió qué.</a:t>
            </a:r>
          </a:p>
        </p:txBody>
      </p:sp>
      <p:sp>
        <p:nvSpPr>
          <p:cNvPr id="6" name="TextBox 5"/>
          <p:cNvSpPr txBox="1"/>
          <p:nvPr/>
        </p:nvSpPr>
        <p:spPr>
          <a:xfrm>
            <a:off x="822960" y="3749039"/>
            <a:ext cx="10515600" cy="4206240"/>
          </a:xfrm>
          <a:prstGeom prst="rect">
            <a:avLst/>
          </a:prstGeom>
          <a:noFill/>
        </p:spPr>
        <p:txBody>
          <a:bodyPr wrap="square">
            <a:spAutoFit/>
          </a:bodyPr>
          <a:lstStyle/>
          <a:p>
            <a:pPr>
              <a:spcAft>
                <a:spcPts val="1000"/>
              </a:spcAft>
            </a:pPr>
            <a:r>
              <a:rPr sz="1800">
                <a:solidFill>
                  <a:srgbClr val="595959"/>
                </a:solidFill>
                <a:latin typeface="Segoe UI"/>
              </a:rPr>
              <a:t>•  El cliente pierde el día buscando una pieza.</a:t>
            </a:r>
          </a:p>
          <a:p>
            <a:pPr>
              <a:spcAft>
                <a:spcPts val="1000"/>
              </a:spcAft>
            </a:pPr>
            <a:r>
              <a:rPr sz="1800">
                <a:solidFill>
                  <a:srgbClr val="595959"/>
                </a:solidFill>
                <a:latin typeface="Segoe UI"/>
              </a:rPr>
              <a:t>•  El negocio pierde ventas por quiebres de stock que nadie midió.</a:t>
            </a:r>
          </a:p>
          <a:p>
            <a:pPr>
              <a:spcAft>
                <a:spcPts val="1000"/>
              </a:spcAft>
            </a:pPr>
            <a:r>
              <a:rPr sz="1800">
                <a:solidFill>
                  <a:srgbClr val="595959"/>
                </a:solidFill>
                <a:latin typeface="Segoe UI"/>
              </a:rPr>
              <a:t>•  No hay historial, así que no hay recordatorio de mantenimiento ni forma de anticipar la demanda.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RutaMoto</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La empresa que vamos a digitalizar</a:t>
            </a:r>
          </a:p>
        </p:txBody>
      </p:sp>
      <p:graphicFrame>
        <p:nvGraphicFramePr>
          <p:cNvPr id="5" name="Table 4"/>
          <p:cNvGraphicFramePr>
            <a:graphicFrameLocks noGrp="1"/>
          </p:cNvGraphicFramePr>
          <p:nvPr/>
        </p:nvGraphicFramePr>
        <p:xfrm>
          <a:off x="822960" y="2011680"/>
          <a:ext cx="10515600" cy="2743200"/>
        </p:xfrm>
        <a:graphic>
          <a:graphicData uri="http://schemas.openxmlformats.org/drawingml/2006/table">
            <a:tbl>
              <a:tblPr firstRow="1" bandRow="1">
                <a:tableStyleId>{5C22544A-7EE6-4342-B048-85BDC9FD1C3A}</a:tableStyleId>
              </a:tblPr>
              <a:tblGrid>
                <a:gridCol w="2313432"/>
                <a:gridCol w="8202168"/>
              </a:tblGrid>
              <a:tr h="457200">
                <a:tc>
                  <a:txBody>
                    <a:bodyPr/>
                    <a:lstStyle/>
                    <a:p>
                      <a:r>
                        <a:rPr sz="1400" b="1">
                          <a:solidFill>
                            <a:srgbClr val="FFFFFF"/>
                          </a:solidFill>
                          <a:latin typeface="Segoe UI"/>
                        </a:rPr>
                        <a:t>Dato</a:t>
                      </a:r>
                    </a:p>
                  </a:txBody>
                  <a:tcPr>
                    <a:solidFill>
                      <a:srgbClr val="1F3A5F"/>
                    </a:solidFill>
                  </a:tcPr>
                </a:tc>
                <a:tc>
                  <a:txBody>
                    <a:bodyPr/>
                    <a:lstStyle/>
                    <a:p>
                      <a:r>
                        <a:rPr sz="1400" b="1">
                          <a:solidFill>
                            <a:srgbClr val="FFFFFF"/>
                          </a:solidFill>
                          <a:latin typeface="Segoe UI"/>
                        </a:rPr>
                        <a:t>Valor</a:t>
                      </a:r>
                    </a:p>
                  </a:txBody>
                  <a:tcPr>
                    <a:solidFill>
                      <a:srgbClr val="1F3A5F"/>
                    </a:solidFill>
                  </a:tcPr>
                </a:tc>
              </a:tr>
              <a:tr h="457200">
                <a:tc>
                  <a:txBody>
                    <a:bodyPr/>
                    <a:lstStyle/>
                    <a:p>
                      <a:r>
                        <a:rPr sz="1300" b="0">
                          <a:solidFill>
                            <a:srgbClr val="595959"/>
                          </a:solidFill>
                          <a:latin typeface="Segoe UI"/>
                        </a:rPr>
                        <a:t>Sector</a:t>
                      </a:r>
                    </a:p>
                  </a:txBody>
                  <a:tcPr/>
                </a:tc>
                <a:tc>
                  <a:txBody>
                    <a:bodyPr/>
                    <a:lstStyle/>
                    <a:p>
                      <a:r>
                        <a:rPr sz="1300" b="0">
                          <a:solidFill>
                            <a:srgbClr val="595959"/>
                          </a:solidFill>
                          <a:latin typeface="Segoe UI"/>
                        </a:rPr>
                        <a:t>Repuestos y accesorios para motocicleta (mercado de reposición)</a:t>
                      </a:r>
                    </a:p>
                  </a:txBody>
                  <a:tcPr/>
                </a:tc>
              </a:tr>
              <a:tr h="457200">
                <a:tc>
                  <a:txBody>
                    <a:bodyPr/>
                    <a:lstStyle/>
                    <a:p>
                      <a:r>
                        <a:rPr sz="1300" b="0">
                          <a:solidFill>
                            <a:srgbClr val="595959"/>
                          </a:solidFill>
                          <a:latin typeface="Segoe UI"/>
                        </a:rPr>
                        <a:t>Alcance inicial</a:t>
                      </a:r>
                    </a:p>
                  </a:txBody>
                  <a:tcPr/>
                </a:tc>
                <a:tc>
                  <a:txBody>
                    <a:bodyPr/>
                    <a:lstStyle/>
                    <a:p>
                      <a:r>
                        <a:rPr sz="1300" b="0">
                          <a:solidFill>
                            <a:srgbClr val="595959"/>
                          </a:solidFill>
                          <a:latin typeface="Segoe UI"/>
                        </a:rPr>
                        <a:t>Área metropolitana: Guatemala, Mixco, Villa Nueva</a:t>
                      </a:r>
                    </a:p>
                  </a:txBody>
                  <a:tcPr/>
                </a:tc>
              </a:tr>
              <a:tr h="457200">
                <a:tc>
                  <a:txBody>
                    <a:bodyPr/>
                    <a:lstStyle/>
                    <a:p>
                      <a:r>
                        <a:rPr sz="1300" b="0">
                          <a:solidFill>
                            <a:srgbClr val="595959"/>
                          </a:solidFill>
                          <a:latin typeface="Segoe UI"/>
                        </a:rPr>
                        <a:t>Modelo</a:t>
                      </a:r>
                    </a:p>
                  </a:txBody>
                  <a:tcPr/>
                </a:tc>
                <a:tc>
                  <a:txBody>
                    <a:bodyPr/>
                    <a:lstStyle/>
                    <a:p>
                      <a:r>
                        <a:rPr sz="1300" b="0">
                          <a:solidFill>
                            <a:srgbClr val="595959"/>
                          </a:solidFill>
                          <a:latin typeface="Segoe UI"/>
                        </a:rPr>
                        <a:t>E-commerce propio, entrega a domicilio y recogida en tienda</a:t>
                      </a:r>
                    </a:p>
                  </a:txBody>
                  <a:tcPr/>
                </a:tc>
              </a:tr>
              <a:tr h="457200">
                <a:tc>
                  <a:txBody>
                    <a:bodyPr/>
                    <a:lstStyle/>
                    <a:p>
                      <a:r>
                        <a:rPr sz="1300" b="0">
                          <a:solidFill>
                            <a:srgbClr val="595959"/>
                          </a:solidFill>
                          <a:latin typeface="Segoe UI"/>
                        </a:rPr>
                        <a:t>Catálogo</a:t>
                      </a:r>
                    </a:p>
                  </a:txBody>
                  <a:tcPr/>
                </a:tc>
                <a:tc>
                  <a:txBody>
                    <a:bodyPr/>
                    <a:lstStyle/>
                    <a:p>
                      <a:r>
                        <a:rPr sz="1300" b="0">
                          <a:solidFill>
                            <a:srgbClr val="595959"/>
                          </a:solidFill>
                          <a:latin typeface="Segoe UI"/>
                        </a:rPr>
                        <a:t>36 productos en 6 categorías</a:t>
                      </a:r>
                    </a:p>
                  </a:txBody>
                  <a:tcPr/>
                </a:tc>
              </a:tr>
              <a:tr h="457200">
                <a:tc>
                  <a:txBody>
                    <a:bodyPr/>
                    <a:lstStyle/>
                    <a:p>
                      <a:r>
                        <a:rPr sz="1300" b="0">
                          <a:solidFill>
                            <a:srgbClr val="595959"/>
                          </a:solidFill>
                          <a:latin typeface="Segoe UI"/>
                        </a:rPr>
                        <a:t>Segmentos</a:t>
                      </a:r>
                    </a:p>
                  </a:txBody>
                  <a:tcPr/>
                </a:tc>
                <a:tc>
                  <a:txBody>
                    <a:bodyPr/>
                    <a:lstStyle/>
                    <a:p>
                      <a:r>
                        <a:rPr sz="1300" b="0">
                          <a:solidFill>
                            <a:srgbClr val="595959"/>
                          </a:solidFill>
                          <a:latin typeface="Segoe UI"/>
                        </a:rPr>
                        <a:t>Repartidor · Particular · Taller (B2B) · Entusiasta</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Objetivos</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Qué se compromete a lograr el proyecto</a:t>
            </a:r>
          </a:p>
        </p:txBody>
      </p:sp>
      <p:graphicFrame>
        <p:nvGraphicFramePr>
          <p:cNvPr id="5" name="Table 4"/>
          <p:cNvGraphicFramePr>
            <a:graphicFrameLocks noGrp="1"/>
          </p:cNvGraphicFramePr>
          <p:nvPr/>
        </p:nvGraphicFramePr>
        <p:xfrm>
          <a:off x="822960" y="2011680"/>
          <a:ext cx="10515600" cy="2560320"/>
        </p:xfrm>
        <a:graphic>
          <a:graphicData uri="http://schemas.openxmlformats.org/drawingml/2006/table">
            <a:tbl>
              <a:tblPr firstRow="1" bandRow="1">
                <a:tableStyleId>{5C22544A-7EE6-4342-B048-85BDC9FD1C3A}</a:tableStyleId>
              </a:tblPr>
              <a:tblGrid>
                <a:gridCol w="4837176"/>
                <a:gridCol w="3575304"/>
                <a:gridCol w="2103120"/>
              </a:tblGrid>
              <a:tr h="512064">
                <a:tc>
                  <a:txBody>
                    <a:bodyPr/>
                    <a:lstStyle/>
                    <a:p>
                      <a:r>
                        <a:rPr sz="1400" b="1">
                          <a:solidFill>
                            <a:srgbClr val="FFFFFF"/>
                          </a:solidFill>
                          <a:latin typeface="Segoe UI"/>
                        </a:rPr>
                        <a:t>Objetivo</a:t>
                      </a:r>
                    </a:p>
                  </a:txBody>
                  <a:tcPr>
                    <a:solidFill>
                      <a:srgbClr val="1F3A5F"/>
                    </a:solidFill>
                  </a:tcPr>
                </a:tc>
                <a:tc>
                  <a:txBody>
                    <a:bodyPr/>
                    <a:lstStyle/>
                    <a:p>
                      <a:r>
                        <a:rPr sz="1400" b="1">
                          <a:solidFill>
                            <a:srgbClr val="FFFFFF"/>
                          </a:solidFill>
                          <a:latin typeface="Segoe UI"/>
                        </a:rPr>
                        <a:t>Meta medible</a:t>
                      </a:r>
                    </a:p>
                  </a:txBody>
                  <a:tcPr>
                    <a:solidFill>
                      <a:srgbClr val="1F3A5F"/>
                    </a:solidFill>
                  </a:tcPr>
                </a:tc>
                <a:tc>
                  <a:txBody>
                    <a:bodyPr/>
                    <a:lstStyle/>
                    <a:p>
                      <a:r>
                        <a:rPr sz="1400" b="1">
                          <a:solidFill>
                            <a:srgbClr val="FFFFFF"/>
                          </a:solidFill>
                          <a:latin typeface="Segoe UI"/>
                        </a:rPr>
                        <a:t>Plazo</a:t>
                      </a:r>
                    </a:p>
                  </a:txBody>
                  <a:tcPr>
                    <a:solidFill>
                      <a:srgbClr val="1F3A5F"/>
                    </a:solidFill>
                  </a:tcPr>
                </a:tc>
              </a:tr>
              <a:tr h="512064">
                <a:tc>
                  <a:txBody>
                    <a:bodyPr/>
                    <a:lstStyle/>
                    <a:p>
                      <a:r>
                        <a:rPr sz="1300" b="0">
                          <a:solidFill>
                            <a:srgbClr val="595959"/>
                          </a:solidFill>
                          <a:latin typeface="Segoe UI"/>
                        </a:rPr>
                        <a:t>[ objetivo 1 ]</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512064">
                <a:tc>
                  <a:txBody>
                    <a:bodyPr/>
                    <a:lstStyle/>
                    <a:p>
                      <a:r>
                        <a:rPr sz="1300" b="0">
                          <a:solidFill>
                            <a:srgbClr val="595959"/>
                          </a:solidFill>
                          <a:latin typeface="Segoe UI"/>
                        </a:rPr>
                        <a:t>[ objetivo 2 ]</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512064">
                <a:tc>
                  <a:txBody>
                    <a:bodyPr/>
                    <a:lstStyle/>
                    <a:p>
                      <a:r>
                        <a:rPr sz="1300" b="0">
                          <a:solidFill>
                            <a:srgbClr val="595959"/>
                          </a:solidFill>
                          <a:latin typeface="Segoe UI"/>
                        </a:rPr>
                        <a:t>[ objetivo 3 ]</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512064">
                <a:tc>
                  <a:txBody>
                    <a:bodyPr/>
                    <a:lstStyle/>
                    <a:p>
                      <a:r>
                        <a:rPr sz="1300" b="0">
                          <a:solidFill>
                            <a:srgbClr val="595959"/>
                          </a:solidFill>
                          <a:latin typeface="Segoe UI"/>
                        </a:rPr>
                        <a:t>[ objetivo 4 ]</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Marco de planificación</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Los ocho planes aplicados a RutaMoto</a:t>
            </a:r>
          </a:p>
        </p:txBody>
      </p:sp>
      <p:graphicFrame>
        <p:nvGraphicFramePr>
          <p:cNvPr id="5" name="Table 4"/>
          <p:cNvGraphicFramePr>
            <a:graphicFrameLocks noGrp="1"/>
          </p:cNvGraphicFramePr>
          <p:nvPr/>
        </p:nvGraphicFramePr>
        <p:xfrm>
          <a:off x="822960" y="2011680"/>
          <a:ext cx="10515600" cy="3840480"/>
        </p:xfrm>
        <a:graphic>
          <a:graphicData uri="http://schemas.openxmlformats.org/drawingml/2006/table">
            <a:tbl>
              <a:tblPr firstRow="1" bandRow="1">
                <a:tableStyleId>{5C22544A-7EE6-4342-B048-85BDC9FD1C3A}</a:tableStyleId>
              </a:tblPr>
              <a:tblGrid>
                <a:gridCol w="2734056"/>
                <a:gridCol w="7781544"/>
              </a:tblGrid>
              <a:tr h="426720">
                <a:tc>
                  <a:txBody>
                    <a:bodyPr/>
                    <a:lstStyle/>
                    <a:p>
                      <a:r>
                        <a:rPr sz="1400" b="1">
                          <a:solidFill>
                            <a:srgbClr val="FFFFFF"/>
                          </a:solidFill>
                          <a:latin typeface="Segoe UI"/>
                        </a:rPr>
                        <a:t>Plan</a:t>
                      </a:r>
                    </a:p>
                  </a:txBody>
                  <a:tcPr>
                    <a:solidFill>
                      <a:srgbClr val="1F3A5F"/>
                    </a:solidFill>
                  </a:tcPr>
                </a:tc>
                <a:tc>
                  <a:txBody>
                    <a:bodyPr/>
                    <a:lstStyle/>
                    <a:p>
                      <a:r>
                        <a:rPr sz="1400" b="1">
                          <a:solidFill>
                            <a:srgbClr val="FFFFFF"/>
                          </a:solidFill>
                          <a:latin typeface="Segoe UI"/>
                        </a:rPr>
                        <a:t>Qué define para RutaMoto</a:t>
                      </a:r>
                    </a:p>
                  </a:txBody>
                  <a:tcPr>
                    <a:solidFill>
                      <a:srgbClr val="1F3A5F"/>
                    </a:solidFill>
                  </a:tcPr>
                </a:tc>
              </a:tr>
              <a:tr h="426720">
                <a:tc>
                  <a:txBody>
                    <a:bodyPr/>
                    <a:lstStyle/>
                    <a:p>
                      <a:r>
                        <a:rPr sz="1300" b="0">
                          <a:solidFill>
                            <a:srgbClr val="595959"/>
                          </a:solidFill>
                          <a:latin typeface="Segoe UI"/>
                        </a:rPr>
                        <a:t>Estratégico</a:t>
                      </a:r>
                    </a:p>
                  </a:txBody>
                  <a:tcPr/>
                </a:tc>
                <a:tc>
                  <a:txBody>
                    <a:bodyPr/>
                    <a:lstStyle/>
                    <a:p>
                      <a:r>
                        <a:rPr sz="1300" b="0">
                          <a:solidFill>
                            <a:srgbClr val="595959"/>
                          </a:solidFill>
                          <a:latin typeface="Segoe UI"/>
                        </a:rPr>
                        <a:t/>
                      </a:r>
                    </a:p>
                  </a:txBody>
                  <a:tcPr/>
                </a:tc>
              </a:tr>
              <a:tr h="426720">
                <a:tc>
                  <a:txBody>
                    <a:bodyPr/>
                    <a:lstStyle/>
                    <a:p>
                      <a:r>
                        <a:rPr sz="1300" b="0">
                          <a:solidFill>
                            <a:srgbClr val="595959"/>
                          </a:solidFill>
                          <a:latin typeface="Segoe UI"/>
                        </a:rPr>
                        <a:t>Operativo</a:t>
                      </a:r>
                    </a:p>
                  </a:txBody>
                  <a:tcPr/>
                </a:tc>
                <a:tc>
                  <a:txBody>
                    <a:bodyPr/>
                    <a:lstStyle/>
                    <a:p>
                      <a:r>
                        <a:rPr sz="1300" b="0">
                          <a:solidFill>
                            <a:srgbClr val="595959"/>
                          </a:solidFill>
                          <a:latin typeface="Segoe UI"/>
                        </a:rPr>
                        <a:t/>
                      </a:r>
                    </a:p>
                  </a:txBody>
                  <a:tcPr/>
                </a:tc>
              </a:tr>
              <a:tr h="426720">
                <a:tc>
                  <a:txBody>
                    <a:bodyPr/>
                    <a:lstStyle/>
                    <a:p>
                      <a:r>
                        <a:rPr sz="1300" b="0">
                          <a:solidFill>
                            <a:srgbClr val="595959"/>
                          </a:solidFill>
                          <a:latin typeface="Segoe UI"/>
                        </a:rPr>
                        <a:t>Direccional</a:t>
                      </a:r>
                    </a:p>
                  </a:txBody>
                  <a:tcPr/>
                </a:tc>
                <a:tc>
                  <a:txBody>
                    <a:bodyPr/>
                    <a:lstStyle/>
                    <a:p>
                      <a:r>
                        <a:rPr sz="1300" b="0">
                          <a:solidFill>
                            <a:srgbClr val="595959"/>
                          </a:solidFill>
                          <a:latin typeface="Segoe UI"/>
                        </a:rPr>
                        <a:t/>
                      </a:r>
                    </a:p>
                  </a:txBody>
                  <a:tcPr/>
                </a:tc>
              </a:tr>
              <a:tr h="426720">
                <a:tc>
                  <a:txBody>
                    <a:bodyPr/>
                    <a:lstStyle/>
                    <a:p>
                      <a:r>
                        <a:rPr sz="1300" b="0">
                          <a:solidFill>
                            <a:srgbClr val="595959"/>
                          </a:solidFill>
                          <a:latin typeface="Segoe UI"/>
                        </a:rPr>
                        <a:t>De un solo uso</a:t>
                      </a:r>
                    </a:p>
                  </a:txBody>
                  <a:tcPr/>
                </a:tc>
                <a:tc>
                  <a:txBody>
                    <a:bodyPr/>
                    <a:lstStyle/>
                    <a:p>
                      <a:r>
                        <a:rPr sz="1300" b="0">
                          <a:solidFill>
                            <a:srgbClr val="595959"/>
                          </a:solidFill>
                          <a:latin typeface="Segoe UI"/>
                        </a:rPr>
                        <a:t/>
                      </a:r>
                    </a:p>
                  </a:txBody>
                  <a:tcPr/>
                </a:tc>
              </a:tr>
              <a:tr h="426720">
                <a:tc>
                  <a:txBody>
                    <a:bodyPr/>
                    <a:lstStyle/>
                    <a:p>
                      <a:r>
                        <a:rPr sz="1300" b="0">
                          <a:solidFill>
                            <a:srgbClr val="595959"/>
                          </a:solidFill>
                          <a:latin typeface="Segoe UI"/>
                        </a:rPr>
                        <a:t>Permanentes</a:t>
                      </a:r>
                    </a:p>
                  </a:txBody>
                  <a:tcPr/>
                </a:tc>
                <a:tc>
                  <a:txBody>
                    <a:bodyPr/>
                    <a:lstStyle/>
                    <a:p>
                      <a:r>
                        <a:rPr sz="1300" b="0">
                          <a:solidFill>
                            <a:srgbClr val="595959"/>
                          </a:solidFill>
                          <a:latin typeface="Segoe UI"/>
                        </a:rPr>
                        <a:t/>
                      </a:r>
                    </a:p>
                  </a:txBody>
                  <a:tcPr/>
                </a:tc>
              </a:tr>
              <a:tr h="426720">
                <a:tc>
                  <a:txBody>
                    <a:bodyPr/>
                    <a:lstStyle/>
                    <a:p>
                      <a:r>
                        <a:rPr sz="1300" b="0">
                          <a:solidFill>
                            <a:srgbClr val="595959"/>
                          </a:solidFill>
                          <a:latin typeface="Segoe UI"/>
                        </a:rPr>
                        <a:t>Porter's Diamond</a:t>
                      </a:r>
                    </a:p>
                  </a:txBody>
                  <a:tcPr/>
                </a:tc>
                <a:tc>
                  <a:txBody>
                    <a:bodyPr/>
                    <a:lstStyle/>
                    <a:p>
                      <a:r>
                        <a:rPr sz="1300" b="0">
                          <a:solidFill>
                            <a:srgbClr val="595959"/>
                          </a:solidFill>
                          <a:latin typeface="Segoe UI"/>
                        </a:rPr>
                        <a:t/>
                      </a:r>
                    </a:p>
                  </a:txBody>
                  <a:tcPr/>
                </a:tc>
              </a:tr>
              <a:tr h="426720">
                <a:tc>
                  <a:txBody>
                    <a:bodyPr/>
                    <a:lstStyle/>
                    <a:p>
                      <a:r>
                        <a:rPr sz="1300" b="0">
                          <a:solidFill>
                            <a:srgbClr val="595959"/>
                          </a:solidFill>
                          <a:latin typeface="Segoe UI"/>
                        </a:rPr>
                        <a:t>FODA</a:t>
                      </a:r>
                    </a:p>
                  </a:txBody>
                  <a:tcPr/>
                </a:tc>
                <a:tc>
                  <a:txBody>
                    <a:bodyPr/>
                    <a:lstStyle/>
                    <a:p>
                      <a:r>
                        <a:rPr sz="1300" b="0">
                          <a:solidFill>
                            <a:srgbClr val="595959"/>
                          </a:solidFill>
                          <a:latin typeface="Segoe UI"/>
                        </a:rPr>
                        <a:t/>
                      </a:r>
                    </a:p>
                  </a:txBody>
                  <a:tcPr/>
                </a:tc>
              </a:tr>
              <a:tr h="426720">
                <a:tc>
                  <a:txBody>
                    <a:bodyPr/>
                    <a:lstStyle/>
                    <a:p>
                      <a:r>
                        <a:rPr sz="1300" b="0">
                          <a:solidFill>
                            <a:srgbClr val="595959"/>
                          </a:solidFill>
                          <a:latin typeface="Segoe UI"/>
                        </a:rPr>
                        <a:t>VUCA</a:t>
                      </a:r>
                    </a:p>
                  </a:txBody>
                  <a:tcPr/>
                </a:tc>
                <a:tc>
                  <a:txBody>
                    <a:bodyPr/>
                    <a:lstStyle/>
                    <a:p>
                      <a:r>
                        <a:rPr sz="1300" b="0">
                          <a:solidFill>
                            <a:srgbClr val="595959"/>
                          </a:solidFill>
                          <a:latin typeface="Segoe UI"/>
                        </a:rPr>
                        <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Selección del ERP</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15 puntos de la rúbrica</a:t>
            </a:r>
          </a:p>
        </p:txBody>
      </p:sp>
      <p:graphicFrame>
        <p:nvGraphicFramePr>
          <p:cNvPr id="5" name="Table 4"/>
          <p:cNvGraphicFramePr>
            <a:graphicFrameLocks noGrp="1"/>
          </p:cNvGraphicFramePr>
          <p:nvPr/>
        </p:nvGraphicFramePr>
        <p:xfrm>
          <a:off x="822960" y="2011680"/>
          <a:ext cx="10515600" cy="2194560"/>
        </p:xfrm>
        <a:graphic>
          <a:graphicData uri="http://schemas.openxmlformats.org/drawingml/2006/table">
            <a:tbl>
              <a:tblPr firstRow="1" bandRow="1">
                <a:tableStyleId>{5C22544A-7EE6-4342-B048-85BDC9FD1C3A}</a:tableStyleId>
              </a:tblPr>
              <a:tblGrid>
                <a:gridCol w="3154680"/>
                <a:gridCol w="3680460"/>
                <a:gridCol w="3680460"/>
              </a:tblGrid>
              <a:tr h="438912">
                <a:tc>
                  <a:txBody>
                    <a:bodyPr/>
                    <a:lstStyle/>
                    <a:p>
                      <a:r>
                        <a:rPr sz="1400" b="1">
                          <a:solidFill>
                            <a:srgbClr val="FFFFFF"/>
                          </a:solidFill>
                          <a:latin typeface="Segoe UI"/>
                        </a:rPr>
                        <a:t>Criterio</a:t>
                      </a:r>
                    </a:p>
                  </a:txBody>
                  <a:tcPr>
                    <a:solidFill>
                      <a:srgbClr val="1F3A5F"/>
                    </a:solidFill>
                  </a:tcPr>
                </a:tc>
                <a:tc>
                  <a:txBody>
                    <a:bodyPr/>
                    <a:lstStyle/>
                    <a:p>
                      <a:r>
                        <a:rPr sz="1400" b="1">
                          <a:solidFill>
                            <a:srgbClr val="FFFFFF"/>
                          </a:solidFill>
                          <a:latin typeface="Segoe UI"/>
                        </a:rPr>
                        <a:t>Opción 1: ______</a:t>
                      </a:r>
                    </a:p>
                  </a:txBody>
                  <a:tcPr>
                    <a:solidFill>
                      <a:srgbClr val="1F3A5F"/>
                    </a:solidFill>
                  </a:tcPr>
                </a:tc>
                <a:tc>
                  <a:txBody>
                    <a:bodyPr/>
                    <a:lstStyle/>
                    <a:p>
                      <a:r>
                        <a:rPr sz="1400" b="1">
                          <a:solidFill>
                            <a:srgbClr val="FFFFFF"/>
                          </a:solidFill>
                          <a:latin typeface="Segoe UI"/>
                        </a:rPr>
                        <a:t>Opción 2: ______</a:t>
                      </a:r>
                    </a:p>
                  </a:txBody>
                  <a:tcPr>
                    <a:solidFill>
                      <a:srgbClr val="1F3A5F"/>
                    </a:solidFill>
                  </a:tcPr>
                </a:tc>
              </a:tr>
              <a:tr h="438912">
                <a:tc>
                  <a:txBody>
                    <a:bodyPr/>
                    <a:lstStyle/>
                    <a:p>
                      <a:r>
                        <a:rPr sz="1300" b="0">
                          <a:solidFill>
                            <a:srgbClr val="595959"/>
                          </a:solidFill>
                          <a:latin typeface="Segoe UI"/>
                        </a:rPr>
                        <a:t>Licencia y costo</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438912">
                <a:tc>
                  <a:txBody>
                    <a:bodyPr/>
                    <a:lstStyle/>
                    <a:p>
                      <a:r>
                        <a:rPr sz="1300" b="0">
                          <a:solidFill>
                            <a:srgbClr val="595959"/>
                          </a:solidFill>
                          <a:latin typeface="Segoe UI"/>
                        </a:rPr>
                        <a:t>Módulos incluidos</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438912">
                <a:tc>
                  <a:txBody>
                    <a:bodyPr/>
                    <a:lstStyle/>
                    <a:p>
                      <a:r>
                        <a:rPr sz="1300" b="0">
                          <a:solidFill>
                            <a:srgbClr val="595959"/>
                          </a:solidFill>
                          <a:latin typeface="Segoe UI"/>
                        </a:rPr>
                        <a:t>Infraestructura requerida</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438912">
                <a:tc>
                  <a:txBody>
                    <a:bodyPr/>
                    <a:lstStyle/>
                    <a:p>
                      <a:r>
                        <a:rPr sz="1300" b="0">
                          <a:solidFill>
                            <a:srgbClr val="595959"/>
                          </a:solidFill>
                          <a:latin typeface="Segoe UI"/>
                        </a:rPr>
                        <a:t>Integración con CRM y web</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bl>
          </a:graphicData>
        </a:graphic>
      </p:graphicFrame>
      <p:sp>
        <p:nvSpPr>
          <p:cNvPr id="6" name="TextBox 5"/>
          <p:cNvSpPr txBox="1"/>
          <p:nvPr/>
        </p:nvSpPr>
        <p:spPr>
          <a:xfrm>
            <a:off x="822960" y="4754880"/>
            <a:ext cx="10515600" cy="1097280"/>
          </a:xfrm>
          <a:prstGeom prst="rect">
            <a:avLst/>
          </a:prstGeom>
          <a:solidFill>
            <a:srgbClr val="F2F2F2"/>
          </a:solidFill>
          <a:ln>
            <a:noFill/>
          </a:ln>
        </p:spPr>
        <p:txBody>
          <a:bodyPr wrap="square">
            <a:spAutoFit/>
          </a:bodyPr>
          <a:lstStyle/>
          <a:p>
            <a:pPr algn="l">
              <a:spcAft>
                <a:spcPts val="600"/>
              </a:spcAft>
            </a:pPr>
            <a:r>
              <a:rPr sz="1800" b="1">
                <a:solidFill>
                  <a:srgbClr val="1F3A5F"/>
                </a:solidFill>
                <a:latin typeface="Segoe UI"/>
              </a:rPr>
              <a:t>Elegimos: ________  ·  Porque: ________________________________</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Selección del CRM</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Otros 15 puntos de la rúbrica</a:t>
            </a:r>
          </a:p>
        </p:txBody>
      </p:sp>
      <p:graphicFrame>
        <p:nvGraphicFramePr>
          <p:cNvPr id="5" name="Table 4"/>
          <p:cNvGraphicFramePr>
            <a:graphicFrameLocks noGrp="1"/>
          </p:cNvGraphicFramePr>
          <p:nvPr/>
        </p:nvGraphicFramePr>
        <p:xfrm>
          <a:off x="822960" y="2011680"/>
          <a:ext cx="10515600" cy="2194560"/>
        </p:xfrm>
        <a:graphic>
          <a:graphicData uri="http://schemas.openxmlformats.org/drawingml/2006/table">
            <a:tbl>
              <a:tblPr firstRow="1" bandRow="1">
                <a:tableStyleId>{5C22544A-7EE6-4342-B048-85BDC9FD1C3A}</a:tableStyleId>
              </a:tblPr>
              <a:tblGrid>
                <a:gridCol w="3154680"/>
                <a:gridCol w="3680460"/>
                <a:gridCol w="3680460"/>
              </a:tblGrid>
              <a:tr h="438912">
                <a:tc>
                  <a:txBody>
                    <a:bodyPr/>
                    <a:lstStyle/>
                    <a:p>
                      <a:r>
                        <a:rPr sz="1400" b="1">
                          <a:solidFill>
                            <a:srgbClr val="FFFFFF"/>
                          </a:solidFill>
                          <a:latin typeface="Segoe UI"/>
                        </a:rPr>
                        <a:t>Criterio</a:t>
                      </a:r>
                    </a:p>
                  </a:txBody>
                  <a:tcPr>
                    <a:solidFill>
                      <a:srgbClr val="1F3A5F"/>
                    </a:solidFill>
                  </a:tcPr>
                </a:tc>
                <a:tc>
                  <a:txBody>
                    <a:bodyPr/>
                    <a:lstStyle/>
                    <a:p>
                      <a:r>
                        <a:rPr sz="1400" b="1">
                          <a:solidFill>
                            <a:srgbClr val="FFFFFF"/>
                          </a:solidFill>
                          <a:latin typeface="Segoe UI"/>
                        </a:rPr>
                        <a:t>Opción 1: ______</a:t>
                      </a:r>
                    </a:p>
                  </a:txBody>
                  <a:tcPr>
                    <a:solidFill>
                      <a:srgbClr val="1F3A5F"/>
                    </a:solidFill>
                  </a:tcPr>
                </a:tc>
                <a:tc>
                  <a:txBody>
                    <a:bodyPr/>
                    <a:lstStyle/>
                    <a:p>
                      <a:r>
                        <a:rPr sz="1400" b="1">
                          <a:solidFill>
                            <a:srgbClr val="FFFFFF"/>
                          </a:solidFill>
                          <a:latin typeface="Segoe UI"/>
                        </a:rPr>
                        <a:t>Opción 2: ______</a:t>
                      </a:r>
                    </a:p>
                  </a:txBody>
                  <a:tcPr>
                    <a:solidFill>
                      <a:srgbClr val="1F3A5F"/>
                    </a:solidFill>
                  </a:tcPr>
                </a:tc>
              </a:tr>
              <a:tr h="438912">
                <a:tc>
                  <a:txBody>
                    <a:bodyPr/>
                    <a:lstStyle/>
                    <a:p>
                      <a:r>
                        <a:rPr sz="1300" b="0">
                          <a:solidFill>
                            <a:srgbClr val="595959"/>
                          </a:solidFill>
                          <a:latin typeface="Segoe UI"/>
                        </a:rPr>
                        <a:t>Licencia y costo</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438912">
                <a:tc>
                  <a:txBody>
                    <a:bodyPr/>
                    <a:lstStyle/>
                    <a:p>
                      <a:r>
                        <a:rPr sz="1300" b="0">
                          <a:solidFill>
                            <a:srgbClr val="595959"/>
                          </a:solidFill>
                          <a:latin typeface="Segoe UI"/>
                        </a:rPr>
                        <a:t>Pipeline de ventas</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438912">
                <a:tc>
                  <a:txBody>
                    <a:bodyPr/>
                    <a:lstStyle/>
                    <a:p>
                      <a:r>
                        <a:rPr sz="1300" b="0">
                          <a:solidFill>
                            <a:srgbClr val="595959"/>
                          </a:solidFill>
                          <a:latin typeface="Segoe UI"/>
                        </a:rPr>
                        <a:t>Campañas de correo</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r h="438912">
                <a:tc>
                  <a:txBody>
                    <a:bodyPr/>
                    <a:lstStyle/>
                    <a:p>
                      <a:r>
                        <a:rPr sz="1300" b="0">
                          <a:solidFill>
                            <a:srgbClr val="595959"/>
                          </a:solidFill>
                          <a:latin typeface="Segoe UI"/>
                        </a:rPr>
                        <a:t>Integración con el ERP</a:t>
                      </a:r>
                    </a:p>
                  </a:txBody>
                  <a:tcPr/>
                </a:tc>
                <a:tc>
                  <a:txBody>
                    <a:bodyPr/>
                    <a:lstStyle/>
                    <a:p>
                      <a:r>
                        <a:rPr sz="1300" b="0">
                          <a:solidFill>
                            <a:srgbClr val="595959"/>
                          </a:solidFill>
                          <a:latin typeface="Segoe UI"/>
                        </a:rPr>
                        <a:t/>
                      </a:r>
                    </a:p>
                  </a:txBody>
                  <a:tcPr/>
                </a:tc>
                <a:tc>
                  <a:txBody>
                    <a:bodyPr/>
                    <a:lstStyle/>
                    <a:p>
                      <a:r>
                        <a:rPr sz="1300" b="0">
                          <a:solidFill>
                            <a:srgbClr val="595959"/>
                          </a:solidFill>
                          <a:latin typeface="Segoe UI"/>
                        </a:rPr>
                        <a:t/>
                      </a:r>
                    </a:p>
                  </a:txBody>
                  <a:tcPr/>
                </a:tc>
              </a:tr>
            </a:tbl>
          </a:graphicData>
        </a:graphic>
      </p:graphicFrame>
      <p:sp>
        <p:nvSpPr>
          <p:cNvPr id="6" name="TextBox 5"/>
          <p:cNvSpPr txBox="1"/>
          <p:nvPr/>
        </p:nvSpPr>
        <p:spPr>
          <a:xfrm>
            <a:off x="822960" y="4754880"/>
            <a:ext cx="10515600" cy="1097280"/>
          </a:xfrm>
          <a:prstGeom prst="rect">
            <a:avLst/>
          </a:prstGeom>
          <a:solidFill>
            <a:srgbClr val="F2F2F2"/>
          </a:solidFill>
          <a:ln>
            <a:noFill/>
          </a:ln>
        </p:spPr>
        <p:txBody>
          <a:bodyPr wrap="square">
            <a:spAutoFit/>
          </a:bodyPr>
          <a:lstStyle/>
          <a:p>
            <a:pPr algn="l">
              <a:spcAft>
                <a:spcPts val="600"/>
              </a:spcAft>
            </a:pPr>
            <a:r>
              <a:rPr sz="1800" b="1">
                <a:solidFill>
                  <a:srgbClr val="1F3A5F"/>
                </a:solidFill>
                <a:latin typeface="Segoe UI"/>
              </a:rPr>
              <a:t>Elegimos: ________  ·  Porque: ________________________________</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Infraestructura</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Dónde vive el sistema y cuánto cuesta</a:t>
            </a:r>
          </a:p>
        </p:txBody>
      </p:sp>
      <p:graphicFrame>
        <p:nvGraphicFramePr>
          <p:cNvPr id="5" name="Table 4"/>
          <p:cNvGraphicFramePr>
            <a:graphicFrameLocks noGrp="1"/>
          </p:cNvGraphicFramePr>
          <p:nvPr/>
        </p:nvGraphicFramePr>
        <p:xfrm>
          <a:off x="822960" y="2011680"/>
          <a:ext cx="10515600" cy="3108960"/>
        </p:xfrm>
        <a:graphic>
          <a:graphicData uri="http://schemas.openxmlformats.org/drawingml/2006/table">
            <a:tbl>
              <a:tblPr firstRow="1" bandRow="1">
                <a:tableStyleId>{5C22544A-7EE6-4342-B048-85BDC9FD1C3A}</a:tableStyleId>
              </a:tblPr>
              <a:tblGrid>
                <a:gridCol w="3575304"/>
                <a:gridCol w="6940296"/>
              </a:tblGrid>
              <a:tr h="444137">
                <a:tc>
                  <a:txBody>
                    <a:bodyPr/>
                    <a:lstStyle/>
                    <a:p>
                      <a:r>
                        <a:rPr sz="1400" b="1">
                          <a:solidFill>
                            <a:srgbClr val="FFFFFF"/>
                          </a:solidFill>
                          <a:latin typeface="Segoe UI"/>
                        </a:rPr>
                        <a:t>Componente</a:t>
                      </a:r>
                    </a:p>
                  </a:txBody>
                  <a:tcPr>
                    <a:solidFill>
                      <a:srgbClr val="1F3A5F"/>
                    </a:solidFill>
                  </a:tcPr>
                </a:tc>
                <a:tc>
                  <a:txBody>
                    <a:bodyPr/>
                    <a:lstStyle/>
                    <a:p>
                      <a:r>
                        <a:rPr sz="1400" b="1">
                          <a:solidFill>
                            <a:srgbClr val="FFFFFF"/>
                          </a:solidFill>
                          <a:latin typeface="Segoe UI"/>
                        </a:rPr>
                        <a:t>Elección</a:t>
                      </a:r>
                    </a:p>
                  </a:txBody>
                  <a:tcPr>
                    <a:solidFill>
                      <a:srgbClr val="1F3A5F"/>
                    </a:solidFill>
                  </a:tcPr>
                </a:tc>
              </a:tr>
              <a:tr h="444137">
                <a:tc>
                  <a:txBody>
                    <a:bodyPr/>
                    <a:lstStyle/>
                    <a:p>
                      <a:r>
                        <a:rPr sz="1300" b="0">
                          <a:solidFill>
                            <a:srgbClr val="595959"/>
                          </a:solidFill>
                          <a:latin typeface="Segoe UI"/>
                        </a:rPr>
                        <a:t>ERP</a:t>
                      </a:r>
                    </a:p>
                  </a:txBody>
                  <a:tcPr/>
                </a:tc>
                <a:tc>
                  <a:txBody>
                    <a:bodyPr/>
                    <a:lstStyle/>
                    <a:p>
                      <a:r>
                        <a:rPr sz="1300" b="0">
                          <a:solidFill>
                            <a:srgbClr val="595959"/>
                          </a:solidFill>
                          <a:latin typeface="Segoe UI"/>
                        </a:rPr>
                        <a:t>Odoo Community</a:t>
                      </a:r>
                    </a:p>
                  </a:txBody>
                  <a:tcPr/>
                </a:tc>
              </a:tr>
              <a:tr h="444137">
                <a:tc>
                  <a:txBody>
                    <a:bodyPr/>
                    <a:lstStyle/>
                    <a:p>
                      <a:r>
                        <a:rPr sz="1300" b="0">
                          <a:solidFill>
                            <a:srgbClr val="595959"/>
                          </a:solidFill>
                          <a:latin typeface="Segoe UI"/>
                        </a:rPr>
                        <a:t>CRM</a:t>
                      </a:r>
                    </a:p>
                  </a:txBody>
                  <a:tcPr/>
                </a:tc>
                <a:tc>
                  <a:txBody>
                    <a:bodyPr/>
                    <a:lstStyle/>
                    <a:p>
                      <a:r>
                        <a:rPr sz="1300" b="0">
                          <a:solidFill>
                            <a:srgbClr val="595959"/>
                          </a:solidFill>
                          <a:latin typeface="Segoe UI"/>
                        </a:rPr>
                        <a:t>Odoo CRM (misma instalación)</a:t>
                      </a:r>
                    </a:p>
                  </a:txBody>
                  <a:tcPr/>
                </a:tc>
              </a:tr>
              <a:tr h="444137">
                <a:tc>
                  <a:txBody>
                    <a:bodyPr/>
                    <a:lstStyle/>
                    <a:p>
                      <a:r>
                        <a:rPr sz="1300" b="0">
                          <a:solidFill>
                            <a:srgbClr val="595959"/>
                          </a:solidFill>
                          <a:latin typeface="Segoe UI"/>
                        </a:rPr>
                        <a:t>Base de datos</a:t>
                      </a:r>
                    </a:p>
                  </a:txBody>
                  <a:tcPr/>
                </a:tc>
                <a:tc>
                  <a:txBody>
                    <a:bodyPr/>
                    <a:lstStyle/>
                    <a:p>
                      <a:r>
                        <a:rPr sz="1300" b="0">
                          <a:solidFill>
                            <a:srgbClr val="595959"/>
                          </a:solidFill>
                          <a:latin typeface="Segoe UI"/>
                        </a:rPr>
                        <a:t>PostgreSQL</a:t>
                      </a:r>
                    </a:p>
                  </a:txBody>
                  <a:tcPr/>
                </a:tc>
              </a:tr>
              <a:tr h="444137">
                <a:tc>
                  <a:txBody>
                    <a:bodyPr/>
                    <a:lstStyle/>
                    <a:p>
                      <a:r>
                        <a:rPr sz="1300" b="0">
                          <a:solidFill>
                            <a:srgbClr val="595959"/>
                          </a:solidFill>
                          <a:latin typeface="Segoe UI"/>
                        </a:rPr>
                        <a:t>BI</a:t>
                      </a:r>
                    </a:p>
                  </a:txBody>
                  <a:tcPr/>
                </a:tc>
                <a:tc>
                  <a:txBody>
                    <a:bodyPr/>
                    <a:lstStyle/>
                    <a:p>
                      <a:r>
                        <a:rPr sz="1300" b="0">
                          <a:solidFill>
                            <a:srgbClr val="595959"/>
                          </a:solidFill>
                          <a:latin typeface="Segoe UI"/>
                        </a:rPr>
                        <a:t>Power BI Desktop</a:t>
                      </a:r>
                    </a:p>
                  </a:txBody>
                  <a:tcPr/>
                </a:tc>
              </a:tr>
              <a:tr h="444137">
                <a:tc>
                  <a:txBody>
                    <a:bodyPr/>
                    <a:lstStyle/>
                    <a:p>
                      <a:r>
                        <a:rPr sz="1300" b="0">
                          <a:solidFill>
                            <a:srgbClr val="595959"/>
                          </a:solidFill>
                          <a:latin typeface="Segoe UI"/>
                        </a:rPr>
                        <a:t>Servidor</a:t>
                      </a:r>
                    </a:p>
                  </a:txBody>
                  <a:tcPr/>
                </a:tc>
                <a:tc>
                  <a:txBody>
                    <a:bodyPr/>
                    <a:lstStyle/>
                    <a:p>
                      <a:r>
                        <a:rPr sz="1300" b="0">
                          <a:solidFill>
                            <a:srgbClr val="595959"/>
                          </a:solidFill>
                          <a:latin typeface="Segoe UI"/>
                        </a:rPr>
                        <a:t>Instalación local</a:t>
                      </a:r>
                    </a:p>
                  </a:txBody>
                  <a:tcPr/>
                </a:tc>
              </a:tr>
              <a:tr h="444138">
                <a:tc>
                  <a:txBody>
                    <a:bodyPr/>
                    <a:lstStyle/>
                    <a:p>
                      <a:r>
                        <a:rPr sz="1300" b="0">
                          <a:solidFill>
                            <a:srgbClr val="595959"/>
                          </a:solidFill>
                          <a:latin typeface="Segoe UI"/>
                        </a:rPr>
                        <a:t>Presupuesto pre-operativo</a:t>
                      </a:r>
                    </a:p>
                  </a:txBody>
                  <a:tcPr/>
                </a:tc>
                <a:tc>
                  <a:txBody>
                    <a:bodyPr/>
                    <a:lstStyle/>
                    <a:p>
                      <a:r>
                        <a:rPr sz="1300" b="0">
                          <a:solidFill>
                            <a:srgbClr val="595959"/>
                          </a:solidFill>
                          <a:latin typeface="Segoe UI"/>
                        </a:rPr>
                        <a:t>Q 67,100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Instalación</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Sistemas montados y validados</a:t>
            </a:r>
          </a:p>
        </p:txBody>
      </p:sp>
      <p:sp>
        <p:nvSpPr>
          <p:cNvPr id="5" name="TextBox 4"/>
          <p:cNvSpPr txBox="1"/>
          <p:nvPr/>
        </p:nvSpPr>
        <p:spPr>
          <a:xfrm>
            <a:off x="822960" y="1920240"/>
            <a:ext cx="5029200" cy="3474720"/>
          </a:xfrm>
          <a:prstGeom prst="rect">
            <a:avLst/>
          </a:prstGeom>
          <a:solidFill>
            <a:srgbClr val="F2F2F2"/>
          </a:solidFill>
          <a:ln>
            <a:noFill/>
          </a:ln>
        </p:spPr>
        <p:txBody>
          <a:bodyPr wrap="square">
            <a:spAutoFit/>
          </a:bodyPr>
          <a:lstStyle/>
          <a:p>
            <a:pPr algn="ctr">
              <a:spcAft>
                <a:spcPts val="600"/>
              </a:spcAft>
            </a:pPr>
            <a:r>
              <a:rPr sz="1600" b="0">
                <a:solidFill>
                  <a:srgbClr val="595959"/>
                </a:solidFill>
                <a:latin typeface="Segoe UI"/>
              </a:rPr>
              <a:t>[ captura del ERP funcionando ]</a:t>
            </a:r>
          </a:p>
        </p:txBody>
      </p:sp>
      <p:sp>
        <p:nvSpPr>
          <p:cNvPr id="6" name="TextBox 5"/>
          <p:cNvSpPr txBox="1"/>
          <p:nvPr/>
        </p:nvSpPr>
        <p:spPr>
          <a:xfrm>
            <a:off x="6309360" y="1920240"/>
            <a:ext cx="5029200" cy="3474720"/>
          </a:xfrm>
          <a:prstGeom prst="rect">
            <a:avLst/>
          </a:prstGeom>
          <a:solidFill>
            <a:srgbClr val="F2F2F2"/>
          </a:solidFill>
          <a:ln>
            <a:noFill/>
          </a:ln>
        </p:spPr>
        <p:txBody>
          <a:bodyPr wrap="square">
            <a:spAutoFit/>
          </a:bodyPr>
          <a:lstStyle/>
          <a:p>
            <a:pPr algn="ctr">
              <a:spcAft>
                <a:spcPts val="600"/>
              </a:spcAft>
            </a:pPr>
            <a:r>
              <a:rPr sz="1600" b="0">
                <a:solidFill>
                  <a:srgbClr val="595959"/>
                </a:solidFill>
                <a:latin typeface="Segoe UI"/>
              </a:rPr>
              <a:t>[ captura del CRM funcionando ]</a:t>
            </a:r>
          </a:p>
        </p:txBody>
      </p:sp>
      <p:sp>
        <p:nvSpPr>
          <p:cNvPr id="7" name="TextBox 6"/>
          <p:cNvSpPr txBox="1"/>
          <p:nvPr/>
        </p:nvSpPr>
        <p:spPr>
          <a:xfrm>
            <a:off x="822960" y="5577840"/>
            <a:ext cx="10515600" cy="548640"/>
          </a:xfrm>
          <a:prstGeom prst="rect">
            <a:avLst/>
          </a:prstGeom>
          <a:noFill/>
        </p:spPr>
        <p:txBody>
          <a:bodyPr wrap="square">
            <a:spAutoFit/>
          </a:bodyPr>
          <a:lstStyle/>
          <a:p>
            <a:pPr algn="l">
              <a:spcAft>
                <a:spcPts val="600"/>
              </a:spcAft>
            </a:pPr>
            <a:r>
              <a:rPr sz="1500" b="0">
                <a:solidFill>
                  <a:srgbClr val="1F3A5F"/>
                </a:solidFill>
                <a:latin typeface="Segoe UI"/>
              </a:rPr>
              <a:t>Manuales completos con captura en cada paso crítico  ·  Videos de instalación en Drive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Mapa de flujo de procesos</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El ciclo de compra de extremo a extremo</a:t>
            </a:r>
          </a:p>
        </p:txBody>
      </p:sp>
      <p:sp>
        <p:nvSpPr>
          <p:cNvPr id="5" name="TextBox 4"/>
          <p:cNvSpPr txBox="1"/>
          <p:nvPr/>
        </p:nvSpPr>
        <p:spPr>
          <a:xfrm>
            <a:off x="640080" y="1828800"/>
            <a:ext cx="10972800" cy="4023360"/>
          </a:xfrm>
          <a:prstGeom prst="rect">
            <a:avLst/>
          </a:prstGeom>
          <a:solidFill>
            <a:srgbClr val="F2F2F2"/>
          </a:solidFill>
          <a:ln>
            <a:noFill/>
          </a:ln>
        </p:spPr>
        <p:txBody>
          <a:bodyPr wrap="square">
            <a:spAutoFit/>
          </a:bodyPr>
          <a:lstStyle/>
          <a:p>
            <a:pPr algn="ctr">
              <a:spcAft>
                <a:spcPts val="600"/>
              </a:spcAft>
            </a:pPr>
            <a:r>
              <a:rPr sz="1600" b="0">
                <a:solidFill>
                  <a:srgbClr val="595959"/>
                </a:solidFill>
                <a:latin typeface="Segoe UI"/>
              </a:rPr>
              <a:t>[ insertar aquí mapa_flujo_procesos.png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Cómo vamos a medir</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5 KPIs y la cadena numérica</a:t>
            </a:r>
          </a:p>
        </p:txBody>
      </p:sp>
      <p:graphicFrame>
        <p:nvGraphicFramePr>
          <p:cNvPr id="5" name="Table 4"/>
          <p:cNvGraphicFramePr>
            <a:graphicFrameLocks noGrp="1"/>
          </p:cNvGraphicFramePr>
          <p:nvPr/>
        </p:nvGraphicFramePr>
        <p:xfrm>
          <a:off x="822960" y="2011680"/>
          <a:ext cx="10515600" cy="2651760"/>
        </p:xfrm>
        <a:graphic>
          <a:graphicData uri="http://schemas.openxmlformats.org/drawingml/2006/table">
            <a:tbl>
              <a:tblPr firstRow="1" bandRow="1">
                <a:tableStyleId>{5C22544A-7EE6-4342-B048-85BDC9FD1C3A}</a:tableStyleId>
              </a:tblPr>
              <a:tblGrid>
                <a:gridCol w="736092"/>
                <a:gridCol w="6624828"/>
                <a:gridCol w="3154680"/>
              </a:tblGrid>
              <a:tr h="441960">
                <a:tc>
                  <a:txBody>
                    <a:bodyPr/>
                    <a:lstStyle/>
                    <a:p>
                      <a:r>
                        <a:rPr sz="1400" b="1">
                          <a:solidFill>
                            <a:srgbClr val="FFFFFF"/>
                          </a:solidFill>
                          <a:latin typeface="Segoe UI"/>
                        </a:rPr>
                        <a:t>#</a:t>
                      </a:r>
                    </a:p>
                  </a:txBody>
                  <a:tcPr>
                    <a:solidFill>
                      <a:srgbClr val="1F3A5F"/>
                    </a:solidFill>
                  </a:tcPr>
                </a:tc>
                <a:tc>
                  <a:txBody>
                    <a:bodyPr/>
                    <a:lstStyle/>
                    <a:p>
                      <a:r>
                        <a:rPr sz="1400" b="1">
                          <a:solidFill>
                            <a:srgbClr val="FFFFFF"/>
                          </a:solidFill>
                          <a:latin typeface="Segoe UI"/>
                        </a:rPr>
                        <a:t>KPI</a:t>
                      </a:r>
                    </a:p>
                  </a:txBody>
                  <a:tcPr>
                    <a:solidFill>
                      <a:srgbClr val="1F3A5F"/>
                    </a:solidFill>
                  </a:tcPr>
                </a:tc>
                <a:tc>
                  <a:txBody>
                    <a:bodyPr/>
                    <a:lstStyle/>
                    <a:p>
                      <a:r>
                        <a:rPr sz="1400" b="1">
                          <a:solidFill>
                            <a:srgbClr val="FFFFFF"/>
                          </a:solidFill>
                          <a:latin typeface="Segoe UI"/>
                        </a:rPr>
                        <a:t>Meta</a:t>
                      </a:r>
                    </a:p>
                  </a:txBody>
                  <a:tcPr>
                    <a:solidFill>
                      <a:srgbClr val="1F3A5F"/>
                    </a:solidFill>
                  </a:tcPr>
                </a:tc>
              </a:tr>
              <a:tr h="441960">
                <a:tc>
                  <a:txBody>
                    <a:bodyPr/>
                    <a:lstStyle/>
                    <a:p>
                      <a:r>
                        <a:rPr sz="1300" b="0">
                          <a:solidFill>
                            <a:srgbClr val="595959"/>
                          </a:solidFill>
                          <a:latin typeface="Segoe UI"/>
                        </a:rPr>
                        <a:t>1</a:t>
                      </a:r>
                    </a:p>
                  </a:txBody>
                  <a:tcPr/>
                </a:tc>
                <a:tc>
                  <a:txBody>
                    <a:bodyPr/>
                    <a:lstStyle/>
                    <a:p>
                      <a:r>
                        <a:rPr sz="1300" b="0">
                          <a:solidFill>
                            <a:srgbClr val="595959"/>
                          </a:solidFill>
                          <a:latin typeface="Segoe UI"/>
                        </a:rPr>
                        <a:t>Tasa de conversión del sitio</a:t>
                      </a:r>
                    </a:p>
                  </a:txBody>
                  <a:tcPr/>
                </a:tc>
                <a:tc>
                  <a:txBody>
                    <a:bodyPr/>
                    <a:lstStyle/>
                    <a:p>
                      <a:r>
                        <a:rPr sz="1300" b="0">
                          <a:solidFill>
                            <a:srgbClr val="595959"/>
                          </a:solidFill>
                          <a:latin typeface="Segoe UI"/>
                        </a:rPr>
                        <a:t>2.5%</a:t>
                      </a:r>
                    </a:p>
                  </a:txBody>
                  <a:tcPr/>
                </a:tc>
              </a:tr>
              <a:tr h="441960">
                <a:tc>
                  <a:txBody>
                    <a:bodyPr/>
                    <a:lstStyle/>
                    <a:p>
                      <a:r>
                        <a:rPr sz="1300" b="0">
                          <a:solidFill>
                            <a:srgbClr val="595959"/>
                          </a:solidFill>
                          <a:latin typeface="Segoe UI"/>
                        </a:rPr>
                        <a:t>2</a:t>
                      </a:r>
                    </a:p>
                  </a:txBody>
                  <a:tcPr/>
                </a:tc>
                <a:tc>
                  <a:txBody>
                    <a:bodyPr/>
                    <a:lstStyle/>
                    <a:p>
                      <a:r>
                        <a:rPr sz="1300" b="0">
                          <a:solidFill>
                            <a:srgbClr val="595959"/>
                          </a:solidFill>
                          <a:latin typeface="Segoe UI"/>
                        </a:rPr>
                        <a:t>Ticket promedio</a:t>
                      </a:r>
                    </a:p>
                  </a:txBody>
                  <a:tcPr/>
                </a:tc>
                <a:tc>
                  <a:txBody>
                    <a:bodyPr/>
                    <a:lstStyle/>
                    <a:p>
                      <a:r>
                        <a:rPr sz="1300" b="0">
                          <a:solidFill>
                            <a:srgbClr val="595959"/>
                          </a:solidFill>
                          <a:latin typeface="Segoe UI"/>
                        </a:rPr>
                        <a:t>Q 285</a:t>
                      </a:r>
                    </a:p>
                  </a:txBody>
                  <a:tcPr/>
                </a:tc>
              </a:tr>
              <a:tr h="441960">
                <a:tc>
                  <a:txBody>
                    <a:bodyPr/>
                    <a:lstStyle/>
                    <a:p>
                      <a:r>
                        <a:rPr sz="1300" b="0">
                          <a:solidFill>
                            <a:srgbClr val="595959"/>
                          </a:solidFill>
                          <a:latin typeface="Segoe UI"/>
                        </a:rPr>
                        <a:t>3</a:t>
                      </a:r>
                    </a:p>
                  </a:txBody>
                  <a:tcPr/>
                </a:tc>
                <a:tc>
                  <a:txBody>
                    <a:bodyPr/>
                    <a:lstStyle/>
                    <a:p>
                      <a:r>
                        <a:rPr sz="1300" b="0">
                          <a:solidFill>
                            <a:srgbClr val="595959"/>
                          </a:solidFill>
                          <a:latin typeface="Segoe UI"/>
                        </a:rPr>
                        <a:t>Entregas metropolitanas en menos de 24 h</a:t>
                      </a:r>
                    </a:p>
                  </a:txBody>
                  <a:tcPr/>
                </a:tc>
                <a:tc>
                  <a:txBody>
                    <a:bodyPr/>
                    <a:lstStyle/>
                    <a:p>
                      <a:r>
                        <a:rPr sz="1300" b="0">
                          <a:solidFill>
                            <a:srgbClr val="595959"/>
                          </a:solidFill>
                          <a:latin typeface="Segoe UI"/>
                        </a:rPr>
                        <a:t>90%</a:t>
                      </a:r>
                    </a:p>
                  </a:txBody>
                  <a:tcPr/>
                </a:tc>
              </a:tr>
              <a:tr h="441960">
                <a:tc>
                  <a:txBody>
                    <a:bodyPr/>
                    <a:lstStyle/>
                    <a:p>
                      <a:r>
                        <a:rPr sz="1300" b="0">
                          <a:solidFill>
                            <a:srgbClr val="595959"/>
                          </a:solidFill>
                          <a:latin typeface="Segoe UI"/>
                        </a:rPr>
                        <a:t>4</a:t>
                      </a:r>
                    </a:p>
                  </a:txBody>
                  <a:tcPr/>
                </a:tc>
                <a:tc>
                  <a:txBody>
                    <a:bodyPr/>
                    <a:lstStyle/>
                    <a:p>
                      <a:r>
                        <a:rPr sz="1300" b="0">
                          <a:solidFill>
                            <a:srgbClr val="595959"/>
                          </a:solidFill>
                          <a:latin typeface="Segoe UI"/>
                        </a:rPr>
                        <a:t>Satisfacción postventa (CSAT)</a:t>
                      </a:r>
                    </a:p>
                  </a:txBody>
                  <a:tcPr/>
                </a:tc>
                <a:tc>
                  <a:txBody>
                    <a:bodyPr/>
                    <a:lstStyle/>
                    <a:p>
                      <a:r>
                        <a:rPr sz="1300" b="0">
                          <a:solidFill>
                            <a:srgbClr val="595959"/>
                          </a:solidFill>
                          <a:latin typeface="Segoe UI"/>
                        </a:rPr>
                        <a:t>≥ 4.3 de 5</a:t>
                      </a:r>
                    </a:p>
                  </a:txBody>
                  <a:tcPr/>
                </a:tc>
              </a:tr>
              <a:tr h="441960">
                <a:tc>
                  <a:txBody>
                    <a:bodyPr/>
                    <a:lstStyle/>
                    <a:p>
                      <a:r>
                        <a:rPr sz="1300" b="0">
                          <a:solidFill>
                            <a:srgbClr val="595959"/>
                          </a:solidFill>
                          <a:latin typeface="Segoe UI"/>
                        </a:rPr>
                        <a:t>5</a:t>
                      </a:r>
                    </a:p>
                  </a:txBody>
                  <a:tcPr/>
                </a:tc>
                <a:tc>
                  <a:txBody>
                    <a:bodyPr/>
                    <a:lstStyle/>
                    <a:p>
                      <a:r>
                        <a:rPr sz="1300" b="0">
                          <a:solidFill>
                            <a:srgbClr val="595959"/>
                          </a:solidFill>
                          <a:latin typeface="Segoe UI"/>
                        </a:rPr>
                        <a:t>Quiebre de stock</a:t>
                      </a:r>
                    </a:p>
                  </a:txBody>
                  <a:tcPr/>
                </a:tc>
                <a:tc>
                  <a:txBody>
                    <a:bodyPr/>
                    <a:lstStyle/>
                    <a:p>
                      <a:r>
                        <a:rPr sz="1300" b="0">
                          <a:solidFill>
                            <a:srgbClr val="595959"/>
                          </a:solidFill>
                          <a:latin typeface="Segoe UI"/>
                        </a:rPr>
                        <a:t>≤ 5%</a:t>
                      </a:r>
                    </a:p>
                  </a:txBody>
                  <a:tcPr/>
                </a:tc>
              </a:tr>
            </a:tbl>
          </a:graphicData>
        </a:graphic>
      </p:graphicFrame>
      <p:sp>
        <p:nvSpPr>
          <p:cNvPr id="6" name="TextBox 5"/>
          <p:cNvSpPr txBox="1"/>
          <p:nvPr/>
        </p:nvSpPr>
        <p:spPr>
          <a:xfrm>
            <a:off x="822960" y="5029200"/>
            <a:ext cx="10515600" cy="822960"/>
          </a:xfrm>
          <a:prstGeom prst="rect">
            <a:avLst/>
          </a:prstGeom>
          <a:solidFill>
            <a:srgbClr val="F2F2F2"/>
          </a:solidFill>
          <a:ln>
            <a:noFill/>
          </a:ln>
        </p:spPr>
        <p:txBody>
          <a:bodyPr wrap="square">
            <a:spAutoFit/>
          </a:bodyPr>
          <a:lstStyle/>
          <a:p>
            <a:pPr algn="ctr">
              <a:spcAft>
                <a:spcPts val="600"/>
              </a:spcAft>
            </a:pPr>
            <a:r>
              <a:rPr sz="2000" b="1">
                <a:solidFill>
                  <a:srgbClr val="1F3A5F"/>
                </a:solidFill>
                <a:latin typeface="Segoe UI"/>
              </a:rPr>
              <a:t>8,000 visitas  →  2.5%  →  200 pedidos  →  Q 57,000 en el trimestre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Lo que sigue</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Fases 2 y 3</a:t>
            </a:r>
          </a:p>
        </p:txBody>
      </p:sp>
      <p:sp>
        <p:nvSpPr>
          <p:cNvPr id="5" name="TextBox 4"/>
          <p:cNvSpPr txBox="1"/>
          <p:nvPr/>
        </p:nvSpPr>
        <p:spPr>
          <a:xfrm>
            <a:off x="822960" y="2103120"/>
            <a:ext cx="10515600" cy="4206240"/>
          </a:xfrm>
          <a:prstGeom prst="rect">
            <a:avLst/>
          </a:prstGeom>
          <a:noFill/>
        </p:spPr>
        <p:txBody>
          <a:bodyPr wrap="square">
            <a:spAutoFit/>
          </a:bodyPr>
          <a:lstStyle/>
          <a:p>
            <a:pPr>
              <a:spcAft>
                <a:spcPts val="1600"/>
              </a:spcAft>
            </a:pPr>
            <a:r>
              <a:rPr sz="1900">
                <a:solidFill>
                  <a:srgbClr val="595959"/>
                </a:solidFill>
                <a:latin typeface="Segoe UI"/>
              </a:rPr>
              <a:t>•  Fase 2 — Carga de datos maestros, cadena de suministros y campañas de CRM.</a:t>
            </a:r>
          </a:p>
          <a:p>
            <a:pPr>
              <a:spcAft>
                <a:spcPts val="1600"/>
              </a:spcAft>
            </a:pPr>
            <a:r>
              <a:rPr sz="1900">
                <a:solidFill>
                  <a:srgbClr val="595959"/>
                </a:solidFill>
                <a:latin typeface="Segoe UI"/>
              </a:rPr>
              <a:t>•  Fase 3 — Sitio e-commerce, integración de extremo a extremo y reportes de BI.</a:t>
            </a:r>
          </a:p>
          <a:p>
            <a:pPr>
              <a:spcAft>
                <a:spcPts val="1600"/>
              </a:spcAft>
            </a:pPr>
            <a:r>
              <a:rPr sz="1900">
                <a:solidFill>
                  <a:srgbClr val="595959"/>
                </a:solidFill>
                <a:latin typeface="Segoe UI"/>
              </a:rPr>
              <a:t>•  El riesgo que ya identificamos: la integración automática entre sistemas es lo más valorado de la Fase 3, y por eso elegimos un stack que la resuelve por configuración y no por código.</a:t>
            </a:r>
          </a:p>
        </p:txBody>
      </p:sp>
      <p:sp>
        <p:nvSpPr>
          <p:cNvPr id="6" name="TextBox 5"/>
          <p:cNvSpPr txBox="1"/>
          <p:nvPr/>
        </p:nvSpPr>
        <p:spPr>
          <a:xfrm>
            <a:off x="822960" y="4937760"/>
            <a:ext cx="10515600" cy="914400"/>
          </a:xfrm>
          <a:prstGeom prst="rect">
            <a:avLst/>
          </a:prstGeom>
          <a:noFill/>
        </p:spPr>
        <p:txBody>
          <a:bodyPr wrap="square">
            <a:spAutoFit/>
          </a:bodyPr>
          <a:lstStyle/>
          <a:p>
            <a:pPr algn="ctr">
              <a:spcAft>
                <a:spcPts val="600"/>
              </a:spcAft>
            </a:pPr>
            <a:r>
              <a:rPr sz="2600" b="1">
                <a:solidFill>
                  <a:srgbClr val="1F3A5F"/>
                </a:solidFill>
                <a:latin typeface="Segoe UI"/>
              </a:rPr>
              <a:t>Gracias. ¿Preguntas?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