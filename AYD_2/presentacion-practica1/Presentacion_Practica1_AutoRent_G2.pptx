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Presentacion de la Practica 1. Presentarse, decir grupo y seccion, y anunciar que se recorre el enunciado completo: framework, patron, demo, git-flow y documentacion.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la agenda entera. Marcar los tres bloques gruesos: framework y patrones, implementacion, y proceso de trabajo (git-flow y documentacion).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Enlazar cada objetivo especifico con la evidencia concreta del proyecto. Esto adelanta el mapa de la defensa.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 el enunciado con las propias palabras. El gancho es la ultima caja: el problema real es el ida y vuelta cliente-agente, no el CRUD.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Aclarar que el actor Sistema no esta en el enunciado: lo agregamos porque en los casos de uso expandidos hay pasos que ejecuta la aplicacion 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el flujo como historia, sin leer las tarjetas. Rematar con la franja inferior: los tres patrones se concentran en el paso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diciendo que se descarto un stack de solo frontend con API ad hoc: por el tiempo del demo y por la necesidad de auth, ORM y admin ya resueltos.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que tres y no uno: el dominio los pidio. Con solo State se cumplia, pero el precio habria quedado con condicionales dentro de Reserva.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argumento fuerte: la clase base no declara metodos vacios, declara metodos que lanzan excepcion. El comportamiento por omision es 'esta transicion es ilegal'. Mencionar chk_motivo_si_rechazada y chk_horario_si_propuesta.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Diagrama tomado de docs/diagramas/patrones_uml.md. Senalar la nota ambar: es la decision de diseno que hace que un estado terminal sean tres lineas.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Adelantarse a la pregunta State vs Strategy: misma estructura, distinta intencion. El cabo suelto que abre el siguiente patron: si Reserva no nombra ninguna tarifa, quien decide cual se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 el matiz de la variante parametrizada antes de que lo pregunten: queda mejor que si lo sacan ellos. La pregunta 'como agregarian un plan nuevo' es la mejor que pueden hacer: es la demostracion de que el patron sirvio.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Narrar la secuencia paso a paso. Rematar con la frase de la derecha, que es lo que se quiere que se lleven de la defensa.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MTV = Model, Template, View. Insistir en que la vista no conoce ningun estado ni ninguna tarifa. Si piden ver codigo: reservas/views.py y reservas/estados.py.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diagrama entidad-relacion completo esta en docs/MANUAL_TECNICO.md seccion 10 y en docs/diagramas/modelo_datos.md.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las tablas. Mostrar el nivel de detalle con el ejemplo de RF-007, que es el requerimiento donde se cruzan los tres patrones.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enunciado pide casos de uso de alto nivel y expandidos. Aqui se muestra el catalogo; la siguiente lamina ensena la profundidad de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CDU se eligio porque es donde colaboran los tres patrones y donde el RNF-04 de consistencia de estados se vuelve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punto que evalua el auxiliar: que cada RNF tenga metrica, no adjetivos. Senalar RNF-04 y RNF-07, que son los que verifican directamente los patrones.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en vivo git branch -a y git log --oneline si lo piden. Cada rama lleva el carne de quien la trabajo, lo que hace trazable la participacion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que el enunciado exige markdown y solo entrega por UEDI. Confirmar que el auxiliar ya fue agregado al repositorio privado.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Probar el recorrido completo antes de exponer. Si preguntan por el codigo, abrir reservas/estados.py: es el archivo que mejor se defiende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Lamina de red de seguridad. No leerla: pasarla rapido y volver si preguntan.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el beneficio concreto, no con teoria. Abrir a preguntas con la lamina anterior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223760" y="201168"/>
            <a:ext cx="4974336" cy="6455664"/>
          </a:xfrm>
          <a:prstGeom prst="rect">
            <a:avLst/>
          </a:prstGeom>
          <a:solidFill>
            <a:srgbClr val="1B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9ABE2"/>
                </a:solidFill>
                <a:latin typeface="Segoe UI"/>
              </a:rPr>
              <a:t>UNIVERSIDAD DE SAN CARLOS DE GUATEMALA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6C6D6"/>
                </a:solidFill>
                <a:latin typeface="Segoe UI"/>
              </a:rPr>
              <a:t>Facultad de Ingenieria  ·  Escuela de Ciencias y Sistemas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1188720" cy="6400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AutoRent Express S.A.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CBDAE8"/>
                </a:solidFill>
                <a:latin typeface="Segoe UI"/>
              </a:rPr>
              <a:t>Plataforma digital para la gestion y publicacion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CBDAE8"/>
                </a:solidFill>
                <a:latin typeface="Segoe UI"/>
              </a:rPr>
              <a:t>de vehiculos en alquiler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5669280" cy="18288"/>
          </a:xfrm>
          <a:prstGeom prst="rect">
            <a:avLst/>
          </a:prstGeom>
          <a:solidFill>
            <a:srgbClr val="2E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Analisis y Diseno de Sistemas 2  ·  Practica 1  ·  Seccion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389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B4C8"/>
                </a:solidFill>
                <a:latin typeface="Segoe UI"/>
              </a:rPr>
              <a:t>Grupo 2  ·  Segundo semestre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9ABE2"/>
                </a:solidFill>
                <a:latin typeface="Segoe UI"/>
              </a:rPr>
              <a:t>INTEGRANTES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737360"/>
            <a:ext cx="731520" cy="4572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0" y="2057400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9F1E"/>
                </a:solidFill>
                <a:latin typeface="Consolas"/>
              </a:rPr>
              <a:t>201801521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057400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Jemima Solmaira Chavajay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53288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9F1E"/>
                </a:solidFill>
                <a:latin typeface="Consolas"/>
              </a:rPr>
              <a:t>201900131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53288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Elias Abraham Vasquez Soto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0837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9F1E"/>
                </a:solidFill>
                <a:latin typeface="Consolas"/>
              </a:rPr>
              <a:t>201905884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008376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Santiago Julian Barrera Reyes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48386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9F1E"/>
                </a:solidFill>
                <a:latin typeface="Consolas"/>
              </a:rPr>
              <a:t>202112395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48386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Evelyn Marisol Pumay Soy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95935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9F1E"/>
                </a:solidFill>
                <a:latin typeface="Consolas"/>
              </a:rPr>
              <a:t>201701078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959352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Byron Josue Par Rancho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709160"/>
            <a:ext cx="3931920" cy="18288"/>
          </a:xfrm>
          <a:prstGeom prst="rect">
            <a:avLst/>
          </a:prstGeom>
          <a:solidFill>
            <a:srgbClr val="2E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0" y="493776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Segoe UI"/>
              </a:rPr>
              <a:t>Repositorio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1937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AYD2_A_2S2026_PRACTICA1_G2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53212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FB4C8"/>
                </a:solidFill>
                <a:latin typeface="Segoe UI"/>
              </a:rPr>
              <a:t>Django 6.0.7  ·  PostgreSQL  ·  Git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RECORRIDO DE LA 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475488" cy="47548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Contexto y enunciado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837943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Que pidio AutoRent Express y quienes son los actores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31136"/>
            <a:ext cx="475488" cy="47548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50008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2585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Framework elegido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4963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Django + PostgreSQL y su justificacion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889504"/>
            <a:ext cx="475488" cy="47548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9169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Patrones de diseno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154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State, Strategy y Factory Method con UML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547872"/>
            <a:ext cx="475488" cy="47548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66744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575303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Implementacion del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81304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Arquitectura MTV, apps y modelo de datos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06240"/>
            <a:ext cx="475488" cy="47548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4325112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336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Requerimientos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714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14 funcionales, 15 casos de uso y 10 no funcionales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864607"/>
            <a:ext cx="475488" cy="47548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4983479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Git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129783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Ramas, features y formato de commits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522975"/>
            <a:ext cx="475488" cy="47548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5641847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55040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Entregables y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788151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Documentacion en markdown y recorrido en vivo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1572768"/>
            <a:ext cx="2057400" cy="3977639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692640" y="17830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9ABE2"/>
                </a:solidFill>
                <a:latin typeface="Segoe UI"/>
              </a:rPr>
              <a:t>EN UNA FRASE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103120"/>
            <a:ext cx="16459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Un framework, tres patrones y un ciclo de renta que ningun actor puede avanzar solo.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LO QUE PIDE EL ENUNCIADO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Competencias y objetivos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COMPETENCIA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5120640" cy="86868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709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Identificar y describir conceptos de frameworks, aplicando casos de uso y caracteristicas comunes para seleccionar el framework adecuado al proyecto.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163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OBJETIVOS GENERALES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27248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9ABE2"/>
                </a:solidFill>
                <a:latin typeface="Segoe UI"/>
              </a:rPr>
              <a:t>▪  </a:t>
            </a:r>
            <a:r>
              <a:rPr sz="1300">
                <a:solidFill>
                  <a:srgbClr val="1F2937"/>
                </a:solidFill>
                <a:latin typeface="Segoe UI"/>
              </a:rPr>
              <a:t>Familiarizarse con los frameworks de desarrollo y los patrones de diseno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9ABE2"/>
                </a:solidFill>
                <a:latin typeface="Segoe UI"/>
              </a:rPr>
              <a:t>▪  </a:t>
            </a:r>
            <a:r>
              <a:rPr sz="1300">
                <a:solidFill>
                  <a:srgbClr val="1F2937"/>
                </a:solidFill>
                <a:latin typeface="Segoe UI"/>
              </a:rPr>
              <a:t>Comprender la importancia y la organizacion del trabajo en equipo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9ABE2"/>
                </a:solidFill>
                <a:latin typeface="Segoe UI"/>
              </a:rPr>
              <a:t>▪  </a:t>
            </a:r>
            <a:r>
              <a:rPr sz="1300">
                <a:solidFill>
                  <a:srgbClr val="1F2937"/>
                </a:solidFill>
                <a:latin typeface="Segoe UI"/>
              </a:rPr>
              <a:t>Establecer un flujo de trabajo estructurado que facilite la colaboracion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377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DATOS DE LA PRACTICA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48656"/>
            <a:ext cx="2505456" cy="475488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5528" y="52943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9ABE2"/>
                </a:solidFill>
                <a:latin typeface="Segoe UI"/>
              </a:rPr>
              <a:t>PONDERACION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48640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5 puntos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3552" y="5248656"/>
            <a:ext cx="2505456" cy="475488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10712" y="52943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9ABE2"/>
                </a:solidFill>
                <a:latin typeface="Segoe UI"/>
              </a:rPr>
              <a:t>CARGA ESTIMADA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548640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30 horas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779008"/>
            <a:ext cx="2505456" cy="475488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5528" y="582472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9ABE2"/>
                </a:solidFill>
                <a:latin typeface="Segoe UI"/>
              </a:rPr>
              <a:t>ENTREGA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601675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5 de agosto 2026, por UEDI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3552" y="5779008"/>
            <a:ext cx="2505456" cy="475488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10712" y="582472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9ABE2"/>
                </a:solidFill>
                <a:latin typeface="Segoe UI"/>
              </a:rPr>
              <a:t>CALIFICACION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601675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8 de agosto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48132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9F1E"/>
                </a:solidFill>
                <a:latin typeface="Segoe UI"/>
              </a:rPr>
              <a:t>OBJETIVOS ESPECIFICOS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828800"/>
            <a:ext cx="507492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46520" y="1828800"/>
            <a:ext cx="50292" cy="1024128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75120" y="199339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Utilizar un framework e implementar patrones de diseno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33172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Como lo cumplimos:  Django 6.0.7 + State, Strategy y Factory Method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2990088"/>
            <a:ext cx="507492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446520" y="2990088"/>
            <a:ext cx="50292" cy="1024128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75120" y="3154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Implementar git-flow para el control de versiones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49300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Como lo cumplimos:  main, develop y 15 ramas feature con commits #carne: mensaje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151376"/>
            <a:ext cx="507492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446520" y="4151376"/>
            <a:ext cx="50292" cy="1024128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675120" y="431596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Identificar requerimientos funcionales y no funcionales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654296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Como lo cumplimos:  14 RF con plantilla IEEE 830 y 10 RNF medibles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5321808"/>
            <a:ext cx="5074920" cy="50292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75120" y="5440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Los tres objetivos especificos se cubren en esta presentacion.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DESCRIPCION / ENUNCIADO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El problema de negocio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10881360" cy="91440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1481328"/>
            <a:ext cx="50292" cy="9144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6642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F2937"/>
                </a:solidFill>
                <a:latin typeface="Segoe UI"/>
              </a:rPr>
              <a:t>AutoRent Express S.A., dedicada a la renta de vehiculos, necesita una plataforma digital para administrar usuarios, vehiculos y planes de renta, con roles y permisos diferenciados y con interfaces administrativas para gestionar la flota.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70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QUE DEBE PERMITIR LA PLATAFORMA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2624328" cy="150876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3017520"/>
            <a:ext cx="50292" cy="15087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9536" y="318211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Registro y autenticacion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511296"/>
            <a:ext cx="2240280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Clientes, agentes y administradores entran con correo electronico y contrasena.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3017520"/>
            <a:ext cx="2624328" cy="150876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429000" y="3017520"/>
            <a:ext cx="50292" cy="1508760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30168" y="318211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Catalogo y favoritos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511296"/>
            <a:ext cx="2240280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El cliente busca vehiculos, guarda favoritos y consulta la ficha completa.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1" y="3017520"/>
            <a:ext cx="2624328" cy="150876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199631" y="3017520"/>
            <a:ext cx="50292" cy="150876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799" y="318211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Ciclo de la reserva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3511296"/>
            <a:ext cx="2240280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Solicitud, propuesta, aceptacion o rechazo, entrega y finalizacion.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0263" y="3017520"/>
            <a:ext cx="2624328" cy="150876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970263" y="3017520"/>
            <a:ext cx="50292" cy="15087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71432" y="3182112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Administracion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3511296"/>
            <a:ext cx="2240280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Alta y baja de agentes, gestion de vehiculos y tipos, dashboard operativo.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800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9F1E"/>
                </a:solidFill>
                <a:latin typeface="Segoe UI"/>
              </a:rPr>
              <a:t>LO DIFICIL NO ES LISTAR CARROS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120640"/>
            <a:ext cx="10881360" cy="86868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5285232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El nucleo del problema es la negociacion entre cliente y agente para cerrar una renta, y el precio, que depende del plan contratado. De ahi salieron los patrones: nadie puede avanzar la reserva solo, y el total no se calcula igual en todos los planes.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QUIEN HACE 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Actores y alcance por 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481328"/>
          <a:ext cx="10881359" cy="3749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7072"/>
                <a:gridCol w="2438925"/>
                <a:gridCol w="703536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Actor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Responsabilidad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Alcance implementado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Segoe UI"/>
                        </a:rPr>
                        <a:t>Cliente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Segoe UI"/>
                        </a:rPr>
                        <a:t>Busca, guarda favoritos y solicita reservas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Segoe UI"/>
                        </a:rPr>
                        <a:t>Registro con nombre, correo unico, contrasena, licencia y fotografia; actualizacion de perfil; solicitud con fecha, hora, direccion y dias; aceptar o rechazar la propuesta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Segoe UI"/>
                        </a:rPr>
                        <a:t>Agente de renta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Segoe UI"/>
                        </a:rPr>
                        <a:t>Publica y mantiene la flota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Segoe UI"/>
                        </a:rPr>
                        <a:t>CRUD de vehiculos (marca, modelo, ano, placa, precio/dia, descripcion, fotos, pasajeros, transmision, combustible); tipos de vehiculo; dashboard; propuestas de horario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Segoe UI"/>
                        </a:rPr>
                        <a:t>Administrador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Segoe UI"/>
                        </a:rPr>
                        <a:t>Gobierna a los agentes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Segoe UI"/>
                        </a:rPr>
                        <a:t>Crear y dar de baja agentes de renta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Segoe UI"/>
                        </a:rPr>
                        <a:t>Sistema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Segoe UI"/>
                        </a:rPr>
                        <a:t>Valida, persiste y calcula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F2937"/>
                          </a:solidFill>
                          <a:latin typeface="Segoe UI"/>
                        </a:rPr>
                        <a:t>Aplica transiciones de estado, calcula tarifas y hace cumplir los constraints del esquema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486400"/>
            <a:ext cx="10881360" cy="566928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563270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238"/>
                </a:solidFill>
                <a:latin typeface="Segoe UI"/>
              </a:rPr>
              <a:t>Autenticacion unica para los tres roles: correo electronico y contrasena. El rol decide a que pantallas se llega.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FLUJO PRINCIPAL DEL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El recorrido de una renta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187451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1874519" cy="54864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371600" y="1783080"/>
            <a:ext cx="457200" cy="457200"/>
          </a:xfrm>
          <a:prstGeom prst="ellips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71600" y="189280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3591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238"/>
                </a:solidFill>
                <a:latin typeface="Segoe UI"/>
              </a:rPr>
              <a:t>Solicita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88950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9ABE2"/>
                </a:solidFill>
                <a:latin typeface="Segoe UI"/>
              </a:rPr>
              <a:t>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200400"/>
            <a:ext cx="16550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Vehiculo, fecha,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hora, direccion y dias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96896" y="2606040"/>
            <a:ext cx="292608" cy="237744"/>
          </a:xfrm>
          <a:prstGeom prst="rightArrow">
            <a:avLst/>
          </a:prstGeom>
          <a:solidFill>
            <a:srgbClr val="D8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926080" y="1572768"/>
            <a:ext cx="187451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926080" y="1572768"/>
            <a:ext cx="1874519" cy="54864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639312" y="1783080"/>
            <a:ext cx="457200" cy="457200"/>
          </a:xfrm>
          <a:prstGeom prst="ellipse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39312" y="189280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3591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238"/>
                </a:solidFill>
                <a:latin typeface="Segoe UI"/>
              </a:rPr>
              <a:t>Propone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288950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C4EB3"/>
                </a:solidFill>
                <a:latin typeface="Segoe UI"/>
              </a:rPr>
              <a:t>AGENTE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200400"/>
            <a:ext cx="16550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Horario de entrega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y plan de renta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64608" y="2606040"/>
            <a:ext cx="292608" cy="237744"/>
          </a:xfrm>
          <a:prstGeom prst="rightArrow">
            <a:avLst/>
          </a:prstGeom>
          <a:solidFill>
            <a:srgbClr val="D8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193792" y="1572768"/>
            <a:ext cx="187451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193792" y="1572768"/>
            <a:ext cx="1874519" cy="54864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5907024" y="1783080"/>
            <a:ext cx="457200" cy="457200"/>
          </a:xfrm>
          <a:prstGeom prst="ellipse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07024" y="189280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23591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238"/>
                </a:solidFill>
                <a:latin typeface="Segoe UI"/>
              </a:rPr>
              <a:t>Acepta o</a:t>
            </a:r>
          </a:p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238"/>
                </a:solidFill>
                <a:latin typeface="Segoe UI"/>
              </a:rPr>
              <a:t>rechaza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2" y="288950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09F1E"/>
                </a:solidFill>
                <a:latin typeface="Segoe UI"/>
              </a:rPr>
              <a:t>CLIENTE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200400"/>
            <a:ext cx="16550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Si rechaza, el sistema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exige un motivo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132320" y="2606040"/>
            <a:ext cx="292608" cy="237744"/>
          </a:xfrm>
          <a:prstGeom prst="rightArrow">
            <a:avLst/>
          </a:prstGeom>
          <a:solidFill>
            <a:srgbClr val="D8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461504" y="1572768"/>
            <a:ext cx="187451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461504" y="1572768"/>
            <a:ext cx="1874519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74736" y="1783080"/>
            <a:ext cx="457200" cy="4572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174736" y="189280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8664" y="23591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238"/>
                </a:solidFill>
                <a:latin typeface="Segoe UI"/>
              </a:rPr>
              <a:t>Entrega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8664" y="288950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2E9E6B"/>
                </a:solidFill>
                <a:latin typeface="Segoe UI"/>
              </a:rPr>
              <a:t>AGENTE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1" y="3200400"/>
            <a:ext cx="16550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La reserva pasa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a EN RENTA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400032" y="2606040"/>
            <a:ext cx="292608" cy="237744"/>
          </a:xfrm>
          <a:prstGeom prst="rightArrow">
            <a:avLst/>
          </a:prstGeom>
          <a:solidFill>
            <a:srgbClr val="D8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729216" y="1572768"/>
            <a:ext cx="187451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9729216" y="1572768"/>
            <a:ext cx="1874519" cy="54864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42448" y="1783080"/>
            <a:ext cx="457200" cy="457200"/>
          </a:xfrm>
          <a:prstGeom prst="ellipse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442448" y="189280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66376" y="2359152"/>
            <a:ext cx="1600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02238"/>
                </a:solidFill>
                <a:latin typeface="Segoe UI"/>
              </a:rPr>
              <a:t>Finaliza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66376" y="288950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238"/>
                </a:solidFill>
                <a:latin typeface="Segoe UI"/>
              </a:rPr>
              <a:t>AGENTE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38944" y="3200400"/>
            <a:ext cx="16550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Devolucion y cierre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de la renta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4160520"/>
            <a:ext cx="10881360" cy="68580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58368" y="4160520"/>
            <a:ext cx="50292" cy="6858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14400" y="4325112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937"/>
                </a:solidFill>
                <a:latin typeface="Segoe UI"/>
              </a:rPr>
              <a:t>Ninguno de los dos actores puede avanzar solo: cliente y agente se van pasando el turno. Esa alternancia es exactamente lo que modela el patron State.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5074920"/>
            <a:ext cx="10881360" cy="91440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4400" y="5230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EL PASO 3 ES EL CRITICO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5046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Segoe UI"/>
              </a:rPr>
              <a:t>Cuando el cliente acepta, se disparan los tres patrones en cadena: State valida la transicion, Factory entrega el algoritmo y Strategy calcula el precio. Es el unico momento en que se calcula dinero.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INSTRUCCION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Framework seleccionado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5029200" cy="1874519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Django 6.0.7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6C6D6"/>
                </a:solidFill>
                <a:latin typeface="Segoe UI"/>
              </a:rPr>
              <a:t>Framework web full-stack en 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651760"/>
            <a:ext cx="4480560" cy="18288"/>
          </a:xfrm>
          <a:prstGeom prst="rect">
            <a:avLst/>
          </a:prstGeom>
          <a:solidFill>
            <a:srgbClr val="2E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9ABE2"/>
                </a:solidFill>
                <a:latin typeface="Segoe UI"/>
              </a:rPr>
              <a:t>Persistencia:  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481328"/>
            <a:ext cx="2697480" cy="86868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989320" y="1481328"/>
            <a:ext cx="50292" cy="86868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72200" y="162763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MTV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Model - Template - 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481328"/>
            <a:ext cx="2697480" cy="86868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823960" y="1481328"/>
            <a:ext cx="50292" cy="868680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06840" y="162763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Modelos mapeados al DDL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487168"/>
            <a:ext cx="2697480" cy="86868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89320" y="2487168"/>
            <a:ext cx="50292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72200" y="263347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9443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Sesiones y hash de contrasena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2487168"/>
            <a:ext cx="2697480" cy="86868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823960" y="2487168"/>
            <a:ext cx="50292" cy="86868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06840" y="263347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CSRF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94436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Middleware de seguridad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611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POR QUE DJANGO Y NO OTRO STACK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58368" y="3931920"/>
          <a:ext cx="1088136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8595360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Criterio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Argumento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Productividad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El patron MTV permitio construir frontend, backend y persistencia dentro de un solo framework, en el tiempo del demo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Autenticacion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Sesiones, hash de contrasenas y AUTH_USER_MODEL personalizado con login por correo, sin escribir el modulo desde cero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ORM sobre DDL previo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El esquema se diseno primero en SQL; los modelos lo reflejan con db_table y managed = False, respetando las 11 tablas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Seguridad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Middleware CSRF, validadores de contrasena y secretos por variables de entorno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Expresion de patrones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Permite ubicar State, Strategy y Factory en clases Python del dominio, sin acoplarlos a la capa de presentacion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INSTRUCCION 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Tres patrones, no uno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4748B"/>
                </a:solidFill>
                <a:latin typeface="Segoe UI"/>
              </a:rPr>
              <a:t>El enunciado pedia elegir un patron. El dominio pidio tres: el ciclo de vida de la reserva y el calculo del precio son problemas distintos.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65960"/>
            <a:ext cx="3502152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965960"/>
            <a:ext cx="3502152" cy="6400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221284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9ABE2"/>
                </a:solidFill>
                <a:latin typeface="Segoe UI"/>
              </a:rPr>
              <a:t>COMPORTAMIENTO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8716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02238"/>
                </a:solidFill>
                <a:latin typeface="Segoe UI"/>
              </a:rPr>
              <a:t>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2999232"/>
            <a:ext cx="640080" cy="3657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6968" y="318211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937"/>
                </a:solidFill>
                <a:latin typeface="Segoe UI"/>
              </a:rPr>
              <a:t>Transiciones legales del ciclo de vida de la reserva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931920"/>
            <a:ext cx="3063240" cy="31089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" y="40050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AAD"/>
                </a:solidFill>
                <a:latin typeface="Consolas"/>
              </a:rPr>
              <a:t>reservas/estados.py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407408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Elimino las cadenas if/elif sobre el campo estado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965960"/>
            <a:ext cx="3502152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43400" y="1965960"/>
            <a:ext cx="3502152" cy="64008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0" y="221284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C4EB3"/>
                </a:solidFill>
                <a:latin typeface="Segoe UI"/>
              </a:rPr>
              <a:t>COMPORTAMIENTO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8716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02238"/>
                </a:solidFill>
                <a:latin typeface="Segoe UI"/>
              </a:rPr>
              <a:t>Strategy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999232"/>
            <a:ext cx="640080" cy="36576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0" y="318211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Algoritmos intercambiables de calculo de tarifa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931920"/>
            <a:ext cx="3063240" cy="31089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690872" y="40050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AAD"/>
                </a:solidFill>
                <a:latin typeface="Consolas"/>
              </a:rPr>
              <a:t>reservas/calculos.py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07408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Una clase por plan: diaria, semanal y mensual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8432" y="1965960"/>
            <a:ext cx="3502152" cy="324612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28432" y="1965960"/>
            <a:ext cx="3502152" cy="64008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57032" y="221284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9F1E"/>
                </a:solidFill>
                <a:latin typeface="Segoe UI"/>
              </a:rPr>
              <a:t>CREACIONAL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248716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02238"/>
                </a:solidFill>
                <a:latin typeface="Segoe UI"/>
              </a:rPr>
              <a:t>Factory Method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7032" y="2999232"/>
            <a:ext cx="640080" cy="36576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57032" y="318211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937"/>
                </a:solidFill>
                <a:latin typeface="Segoe UI"/>
              </a:rPr>
              <a:t>Instanciar la estrategia correcta segun el plan persistido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2" y="3931920"/>
            <a:ext cx="3063240" cy="31089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75904" y="400507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AAD"/>
                </a:solidFill>
                <a:latin typeface="Consolas"/>
              </a:rPr>
              <a:t>PlanRenta.calculo()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4407408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Conecta el discriminador de la base con el objeto de comportamiento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440680"/>
            <a:ext cx="10881360" cy="64008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4400" y="5605272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No son tres patrones sueltos: se activan en cadena en una sola operacion, cuando el cliente acepta la propuesta.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PATRON DE COMPORTAMIENTO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State — ciclo de vida de la reserva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0393D"/>
                </a:solidFill>
                <a:latin typeface="Segoe UI"/>
              </a:rPr>
              <a:t>EL PROBLEMA SIN EL PATRON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5120640" cy="123444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0292" cy="1234440"/>
          </a:xfrm>
          <a:prstGeom prst="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1947672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Cinco operaciones (proponer, aceptar, rechazar, entregar, finalizar) y cada una con su propio if sobre el campo estado. La regla queda dispersa, agregar un estado obliga a tocar las cinco, y es facil olvidar una.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00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9E6B"/>
                </a:solidFill>
                <a:latin typeface="Segoe UI"/>
              </a:rPr>
              <a:t>LA SOLUCION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520440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29ABE2"/>
                </a:solidFill>
                <a:latin typeface="Segoe UI"/>
              </a:rPr>
              <a:t>▪  </a:t>
            </a:r>
            <a:r>
              <a:rPr sz="1250" b="1">
                <a:solidFill>
                  <a:srgbClr val="1F2937"/>
                </a:solidFill>
                <a:latin typeface="Segoe UI"/>
              </a:rPr>
              <a:t>Reserva es el Context. </a:t>
            </a:r>
            <a:r>
              <a:rPr sz="1250">
                <a:solidFill>
                  <a:srgbClr val="1F2937"/>
                </a:solidFill>
                <a:latin typeface="Segoe UI"/>
              </a:rPr>
              <a:t>Persiste el codigo del estado y delega.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29ABE2"/>
                </a:solidFill>
                <a:latin typeface="Segoe UI"/>
              </a:rPr>
              <a:t>▪  </a:t>
            </a:r>
            <a:r>
              <a:rPr sz="1250" b="1">
                <a:solidFill>
                  <a:srgbClr val="1F2937"/>
                </a:solidFill>
                <a:latin typeface="Segoe UI"/>
              </a:rPr>
              <a:t>EstadoReserva es la clase abstracta. </a:t>
            </a:r>
            <a:r>
              <a:rPr sz="1250">
                <a:solidFill>
                  <a:srgbClr val="1F2937"/>
                </a:solidFill>
                <a:latin typeface="Segoe UI"/>
              </a:rPr>
              <a:t>Sus cinco metodos lanzan ValidationError por omision.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29ABE2"/>
                </a:solidFill>
                <a:latin typeface="Segoe UI"/>
              </a:rPr>
              <a:t>▪  </a:t>
            </a:r>
            <a:r>
              <a:rPr sz="1250" b="1">
                <a:solidFill>
                  <a:srgbClr val="1F2937"/>
                </a:solidFill>
                <a:latin typeface="Segoe UI"/>
              </a:rPr>
              <a:t>Cada estado concreto </a:t>
            </a:r>
            <a:r>
              <a:rPr sz="1250">
                <a:solidFill>
                  <a:srgbClr val="1F2937"/>
                </a:solidFill>
                <a:latin typeface="Segoe UI"/>
              </a:rPr>
              <a:t>sobreescribe unicamente las transiciones que le son legales.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29ABE2"/>
                </a:solidFill>
                <a:latin typeface="Segoe UI"/>
              </a:rPr>
              <a:t>▪  </a:t>
            </a:r>
            <a:r>
              <a:rPr sz="1250" b="1">
                <a:solidFill>
                  <a:srgbClr val="1F2937"/>
                </a:solidFill>
                <a:latin typeface="Segoe UI"/>
              </a:rPr>
              <a:t>Un estado terminal </a:t>
            </a:r>
            <a:r>
              <a:rPr sz="1250">
                <a:solidFill>
                  <a:srgbClr val="1F2937"/>
                </a:solidFill>
                <a:latin typeface="Segoe UI"/>
              </a:rPr>
              <a:t>son tres lineas: hereda cinco metodos que ya rechazan.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4630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MAQUINA DE ESTADOS IMPLEMENTADA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10512"/>
            <a:ext cx="2148840" cy="402336"/>
          </a:xfrm>
          <a:prstGeom prst="round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72200" y="1911095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SOLICITADA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395728"/>
            <a:ext cx="2148840" cy="402336"/>
          </a:xfrm>
          <a:prstGeom prst="round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72200" y="2496312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PROPUESTA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80944"/>
            <a:ext cx="2148840" cy="402336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72200" y="3081527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ACEPTADA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566160"/>
            <a:ext cx="2148840" cy="402336"/>
          </a:xfrm>
          <a:prstGeom prst="round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72200" y="366674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EN_RENTA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151376"/>
            <a:ext cx="2148840" cy="402336"/>
          </a:xfrm>
          <a:prstGeom prst="round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72200" y="425196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FINALIZADA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874519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↓  agente propone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45973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↓  cliente acepta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04495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↓  agente entrega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6301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↓  agente finaliza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2395728"/>
            <a:ext cx="1417320" cy="402336"/>
          </a:xfrm>
          <a:prstGeom prst="round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04120" y="249631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RECHAZADA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84080" y="2487168"/>
            <a:ext cx="274320" cy="219456"/>
          </a:xfrm>
          <a:prstGeom prst="rightArrow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464040" y="2066543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C0393D"/>
                </a:solidFill>
                <a:latin typeface="Segoe UI"/>
              </a:rPr>
              <a:t>cliente rechaza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709160"/>
            <a:ext cx="5349240" cy="77724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82512" y="48463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RECHAZADA y FINALIZADA son terminales. Cada transicion sincroniza ademas el estado del vehiculo, dentro de la misma clase de estado.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623560"/>
            <a:ext cx="10881360" cy="50292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4400" y="574243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Resultado medible: cero condicionales sobre el estado dentro de la clase Reserva. Las reglas estan espejadas en los CHECK del DDL.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UML DEL PATRON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State — diagrama de clases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36192"/>
            <a:ext cx="3108960" cy="1938528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68249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Segoe UI"/>
              </a:rPr>
              <a:t>«Context»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Reserva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295144"/>
            <a:ext cx="2697480" cy="18288"/>
          </a:xfrm>
          <a:prstGeom prst="rect">
            <a:avLst/>
          </a:prstGeom>
          <a:solidFill>
            <a:srgbClr val="2E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2377440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4E6F4"/>
                </a:solidFill>
                <a:latin typeface="Consolas"/>
              </a:rPr>
              <a:t>- estado: str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4E6F4"/>
                </a:solidFill>
                <a:latin typeface="Consolas"/>
              </a:rPr>
              <a:t>+ proponer()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4E6F4"/>
                </a:solidFill>
                <a:latin typeface="Consolas"/>
              </a:rPr>
              <a:t>+ aceptar()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4E6F4"/>
                </a:solidFill>
                <a:latin typeface="Consolas"/>
              </a:rPr>
              <a:t>+ rechazar(motivo)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4E6F4"/>
                </a:solidFill>
                <a:latin typeface="Consolas"/>
              </a:rPr>
              <a:t>+ entregar()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D4E6F4"/>
                </a:solidFill>
                <a:latin typeface="Consolas"/>
              </a:rPr>
              <a:t>+ finalizar()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86200" y="2331720"/>
            <a:ext cx="685800" cy="256032"/>
          </a:xfrm>
          <a:prstGeom prst="rightArrow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49039" y="20116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delega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1536192"/>
            <a:ext cx="3108960" cy="1938528"/>
          </a:xfrm>
          <a:prstGeom prst="rect">
            <a:avLst/>
          </a:prstGeom>
          <a:solidFill>
            <a:srgbClr val="0E7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19472" y="168249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BECFA"/>
                </a:solidFill>
                <a:latin typeface="Segoe UI"/>
              </a:rPr>
              <a:t>«State» (abstracta)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19202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EstadoReserva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9472" y="2295144"/>
            <a:ext cx="2697480" cy="18288"/>
          </a:xfrm>
          <a:prstGeom prst="rect">
            <a:avLst/>
          </a:prstGeom>
          <a:solidFill>
            <a:srgbClr val="6BC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946904" y="2377440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+ proponer()   → raise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+ aceptar()    → raise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+ rechazar()   → raise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+ entregar()   → raise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+ finalizar()  → raise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536192"/>
            <a:ext cx="3401568" cy="1938528"/>
          </a:xfrm>
          <a:prstGeom prst="rect">
            <a:avLst/>
          </a:prstGeom>
          <a:solidFill>
            <a:srgbClr val="F2F7FB"/>
          </a:solidFill>
          <a:ln w="12700">
            <a:solidFill>
              <a:srgbClr val="E09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39327" y="171907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9F1E"/>
                </a:solidFill>
                <a:latin typeface="Segoe UI"/>
              </a:rPr>
              <a:t>DECISION DE DISENO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01168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La implementacion por defecto de las cinco operaciones rechaza. Cada estado concreto sobreescribe solamente las transiciones que le son legales; no escribe ni un if.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611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«ConcreteState»  ·  una clase por estado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950208"/>
            <a:ext cx="170992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" y="3950208"/>
            <a:ext cx="1709928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68096" y="41148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238"/>
                </a:solidFill>
                <a:latin typeface="Segoe UI"/>
              </a:rPr>
              <a:t>Solicitada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19" y="443484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proponer()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3950208"/>
            <a:ext cx="170992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487168" y="3950208"/>
            <a:ext cx="1709928" cy="45720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596896" y="41148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238"/>
                </a:solidFill>
                <a:latin typeface="Segoe UI"/>
              </a:rPr>
              <a:t>Propuesta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43484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aceptar()</a:t>
            </a: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rechazar()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3950208"/>
            <a:ext cx="170992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315968" y="3950208"/>
            <a:ext cx="1709928" cy="457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425696" y="41148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238"/>
                </a:solidFill>
                <a:latin typeface="Segoe UI"/>
              </a:rPr>
              <a:t>Aceptada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43484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entregar()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3950208"/>
            <a:ext cx="170992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44768" y="3950208"/>
            <a:ext cx="1709928" cy="4572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54496" y="41148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238"/>
                </a:solidFill>
                <a:latin typeface="Segoe UI"/>
              </a:rPr>
              <a:t>EnRenta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43484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finalizar()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73567" y="3950208"/>
            <a:ext cx="170992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973567" y="3950208"/>
            <a:ext cx="1709928" cy="45720"/>
          </a:xfrm>
          <a:prstGeom prst="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83295" y="41148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238"/>
                </a:solidFill>
                <a:latin typeface="Segoe UI"/>
              </a:rPr>
              <a:t>Rechazada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9" y="443484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(terminal)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02367" y="3950208"/>
            <a:ext cx="170992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9802367" y="3950208"/>
            <a:ext cx="1709928" cy="4572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912095" y="411480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238"/>
                </a:solidFill>
                <a:latin typeface="Segoe UI"/>
              </a:rPr>
              <a:t>Finalizada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19" y="443484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64748B"/>
                </a:solidFill>
                <a:latin typeface="Consolas"/>
              </a:rPr>
              <a:t>(terminal)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349240"/>
            <a:ext cx="10881360" cy="77724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58368" y="5349240"/>
            <a:ext cx="50292" cy="7772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14400" y="54864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Aplicabilidad segun el GoF: usar State cuando varias operaciones contienen la misma estructura condicional sobre el estado del objeto. Nosotros teniamos cinco.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PATRON DE COMPORTAMIENTO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Strategy — calculo de tarifas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0393D"/>
                </a:solidFill>
                <a:latin typeface="Segoe UI"/>
              </a:rPr>
              <a:t>EL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5212080" cy="91440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0292" cy="914400"/>
          </a:xfrm>
          <a:prstGeom prst="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Tres planes cobran distinto. Sin el patron, calcular_total tendria un if por plan, y agregar un plan quincenal obligaria a modificar una clase que no tiene nada que ver con formulas de precio.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80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C4EB3"/>
                </a:solidFill>
                <a:latin typeface="Segoe UI"/>
              </a:rPr>
              <a:t>LAS TRES ESTRATEGIAS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182112"/>
            <a:ext cx="5212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58368" y="3182112"/>
            <a:ext cx="50292" cy="71323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330098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238"/>
                </a:solidFill>
                <a:latin typeface="Consolas"/>
              </a:rPr>
              <a:t>TarifaDiaria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282696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precio_dia × dias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977639"/>
            <a:ext cx="5212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50292" cy="713232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6112" y="4096511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238"/>
                </a:solidFill>
                <a:latin typeface="Consolas"/>
              </a:rPr>
              <a:t>TarifaSemanal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078224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bloques de 7 dias con descuento;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dias sueltos a tarifa diaria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773168"/>
            <a:ext cx="5212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4773168"/>
            <a:ext cx="50292" cy="713232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6112" y="48920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238"/>
                </a:solidFill>
                <a:latin typeface="Consolas"/>
              </a:rPr>
              <a:t>TarifaMensual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873752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bloques de 30 dias con descuento;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dias sueltos a tarifa diaria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46304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C4EB3"/>
                </a:solidFill>
                <a:latin typeface="Segoe UI"/>
              </a:rPr>
              <a:t>INTERFAZ Y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5257800" cy="196596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9944" y="1892807"/>
            <a:ext cx="4965192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E6F4FC"/>
                </a:solidFill>
                <a:latin typeface="Consolas"/>
              </a:rPr>
              <a:t>class CalculoPlan(ABC):            # Strategy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6F4FC"/>
                </a:solidFill>
                <a:latin typeface="Consolas"/>
              </a:rPr>
              <a:t>    @abstractmethod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6F4FC"/>
                </a:solidFill>
                <a:latin typeface="Consolas"/>
              </a:rPr>
              <a:t>    def calcular_total(self, precio_dia, dias, plan):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6F4FC"/>
                </a:solidFill>
                <a:latin typeface="Consolas"/>
              </a:rPr>
              <a:t>        ...</a:t>
            </a:r>
          </a:p>
          <a:p>
            <a:pPr>
              <a:lnSpc>
                <a:spcPct val="120000"/>
              </a:lnSpc>
            </a:pP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6F4FC"/>
                </a:solidFill>
                <a:latin typeface="Consolas"/>
              </a:rPr>
              <a:t># Context: la reserva no conoce la formula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6F4FC"/>
                </a:solidFill>
                <a:latin typeface="Consolas"/>
              </a:rPr>
              <a:t>def calcular_total(self):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E6F4FC"/>
                </a:solidFill>
                <a:latin typeface="Consolas"/>
              </a:rPr>
              <a:t>    return self.plan.calculo().calcular_total(...)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93192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9F1E"/>
                </a:solidFill>
                <a:latin typeface="Segoe UI"/>
              </a:rPr>
              <a:t>LA REGLA DE NEGOCIO, EN UNA SOLA CLASE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251960"/>
            <a:ext cx="5257800" cy="96012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73952" y="440740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El descuento aplica solo sobre bloques completos: 10 dias en plan semanal se cobran como 7 dias con descuento mas 3 dias a tarifa plena. Esa regla vive unicamente en TarifaSemanal.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623560"/>
            <a:ext cx="10881360" cy="50292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" y="574243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Diferencia con State: la estrategia se elige desde afuera y no cambia sola. Una reserva pasa sola de Solicitada a Propuesta; nunca 'pasa' de TarifaDiaria a TarifaSemanal.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PATRON CREACIONAL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Factory Method — planes de renta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9F1E"/>
                </a:solidFill>
                <a:latin typeface="Segoe UI"/>
              </a:rPr>
              <a:t>QUIEN DECIDE QUE TARIFA SE USA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5212080" cy="96012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0292" cy="96012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PlanRenta es el Creator. Lee su propio discriminador calculo_codigo (DIARIA, SEMANAL, MENSUAL) y fabrica la Strategy concreta. El Creator conoce a los productos; Reserva 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80360"/>
            <a:ext cx="5212080" cy="228600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2990088"/>
            <a:ext cx="4919472" cy="2066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50">
                <a:solidFill>
                  <a:srgbClr val="E6F4FC"/>
                </a:solidFill>
                <a:latin typeface="Consolas"/>
              </a:rPr>
              <a:t>class PlanRenta(models.Model):        # Creator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E6F4FC"/>
                </a:solidFill>
                <a:latin typeface="Consolas"/>
              </a:rPr>
              <a:t>    calculo_codigo = models.CharField(...)</a:t>
            </a:r>
          </a:p>
          <a:p>
            <a:pPr>
              <a:lnSpc>
                <a:spcPct val="120000"/>
              </a:lnSpc>
            </a:pP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E6F4FC"/>
                </a:solidFill>
                <a:latin typeface="Consolas"/>
              </a:rPr>
              <a:t>    _PRODUCTOS = {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E6F4FC"/>
                </a:solidFill>
                <a:latin typeface="Consolas"/>
              </a:rPr>
              <a:t>        'DIARIA':  TarifaDiaria,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E6F4FC"/>
                </a:solidFill>
                <a:latin typeface="Consolas"/>
              </a:rPr>
              <a:t>        'SEMANAL': TarifaSemanal,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E6F4FC"/>
                </a:solidFill>
                <a:latin typeface="Consolas"/>
              </a:rPr>
              <a:t>        'MENSUAL': TarifaMensual,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E6F4FC"/>
                </a:solidFill>
                <a:latin typeface="Consolas"/>
              </a:rPr>
              <a:t>    }</a:t>
            </a:r>
          </a:p>
          <a:p>
            <a:pPr>
              <a:lnSpc>
                <a:spcPct val="120000"/>
              </a:lnSpc>
            </a:pP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E6F4FC"/>
                </a:solidFill>
                <a:latin typeface="Consolas"/>
              </a:rPr>
              <a:t>    def calculo(self):                # factory method</a:t>
            </a:r>
          </a:p>
          <a:p>
            <a:pPr>
              <a:lnSpc>
                <a:spcPct val="120000"/>
              </a:lnSpc>
            </a:pPr>
            <a:r>
              <a:rPr sz="1050">
                <a:solidFill>
                  <a:srgbClr val="E6F4FC"/>
                </a:solidFill>
                <a:latin typeface="Consolas"/>
              </a:rPr>
              <a:t>        return self._PRODUCTOS[self.calculo_codigo]()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6304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9F1E"/>
                </a:solidFill>
                <a:latin typeface="Segoe UI"/>
              </a:rPr>
              <a:t>POR QUE ESTA VARIANTE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257800" cy="1417320"/>
          </a:xfrm>
          <a:prstGeom prst="rect">
            <a:avLst/>
          </a:prstGeom>
          <a:solidFill>
            <a:srgbClr val="F2F7FB"/>
          </a:solidFill>
          <a:ln w="12700">
            <a:solidFill>
              <a:srgbClr val="E09F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73952" y="1938528"/>
            <a:ext cx="48463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Es lo que el propio GoF llama factory method parametrizado: un solo metodo que recibe un identificador, en vez de una subclase por producto. Se eligio porque el discriminador ya existia como columna en la base; crear una subclase de PlanRenta por cada plan habria duplicado la tabla sin ganar nada.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38328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9E6B"/>
                </a:solidFill>
                <a:latin typeface="Segoe UI"/>
              </a:rPr>
              <a:t>PUNTO DE EXTENSION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384048" cy="38404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63640" y="377647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79475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  <a:latin typeface="Segoe UI"/>
              </a:rPr>
              <a:t>Escribir la clase TarifaQuincenal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206240"/>
            <a:ext cx="384048" cy="38404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63640" y="427939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29767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  <a:latin typeface="Segoe UI"/>
              </a:rPr>
              <a:t>Agregar una entrada en el diccionario _PRODUCTOS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709159"/>
            <a:ext cx="384048" cy="38404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63640" y="478231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80059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  <a:latin typeface="Segoe UI"/>
              </a:rPr>
              <a:t>Insertar una fila en la tabla plan_renta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5257800"/>
            <a:ext cx="5257800" cy="566928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73952" y="53949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Sin tocar Reserva ni las vistas. El mismo mecanismo se usa en EstadoReserva.crear().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257800"/>
            <a:ext cx="5212080" cy="566928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" y="53949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238"/>
                </a:solidFill>
                <a:latin typeface="Segoe UI"/>
              </a:rPr>
              <a:t>Una tabla no puede guardar un objeto que solo tiene comportamiento.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QUE PASA CUANDO EL CLIENTE ACEPTA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Los tres patrones trabajando juntos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Secuencia real de una sola operacion: reserva.aceptar(). Todo corre dentro de transaction.atomic con select_for_update.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7863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920240"/>
            <a:ext cx="50292" cy="658368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914400" y="2057400"/>
            <a:ext cx="384048" cy="384048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13055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02082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Cliente acepta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39112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La vista invoca reserva.aceptar()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651760"/>
            <a:ext cx="7863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58368" y="2651760"/>
            <a:ext cx="50292" cy="65836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14400" y="2788920"/>
            <a:ext cx="384048" cy="38404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286207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7523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State valida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770632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El estado Propuesta confirma que la transicion es legal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83280"/>
            <a:ext cx="7863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58368" y="3383280"/>
            <a:ext cx="50292" cy="658368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914400" y="3520440"/>
            <a:ext cx="384048" cy="384048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359359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4838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Factory fabrica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502152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plan.calculo() devuelve la Strategy segun el discriminador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114800"/>
            <a:ext cx="7863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58368" y="4114800"/>
            <a:ext cx="50292" cy="658368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14400" y="4251960"/>
            <a:ext cx="384048" cy="384048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432511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42153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Strategy calcula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233672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TarifaSemanal calcula el precio_total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46320"/>
            <a:ext cx="7863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58368" y="4846320"/>
            <a:ext cx="50292" cy="6583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14400" y="4983480"/>
            <a:ext cx="384048" cy="38404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4400" y="505663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81328" y="49469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238"/>
                </a:solidFill>
                <a:latin typeface="Segoe UI"/>
              </a:rPr>
              <a:t>Se cierra el ciclo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4965192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Reserva pasa a ACEPTADA y el vehiculo a RESERVADO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1920240"/>
            <a:ext cx="2761488" cy="3310128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006840" y="21214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Segoe UI"/>
              </a:rPr>
              <a:t>LA FRASE CLAVE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2432304"/>
            <a:ext cx="640080" cy="36576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06840" y="265176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9ABE2"/>
                </a:solidFill>
                <a:latin typeface="Segoe UI"/>
              </a:rPr>
              <a:t>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2907791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decide SI se puede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y QUE sigue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41071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9F1E"/>
                </a:solidFill>
                <a:latin typeface="Segoe UI"/>
              </a:rPr>
              <a:t>Factory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366674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decide QUIEN calcula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169663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C4EB3"/>
                </a:solidFill>
                <a:latin typeface="Segoe UI"/>
              </a:rPr>
              <a:t>Strategy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442569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Segoe UI"/>
              </a:rPr>
              <a:t>decide COMO se calcula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6840" y="4828032"/>
            <a:ext cx="2331720" cy="18288"/>
          </a:xfrm>
          <a:prstGeom prst="rect">
            <a:avLst/>
          </a:prstGeom>
          <a:solidFill>
            <a:srgbClr val="2E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778240" y="4956048"/>
            <a:ext cx="2761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9ABE2"/>
                </a:solidFill>
                <a:latin typeface="Segoe UI"/>
              </a:rPr>
              <a:t>Ninguno invade al otro.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5669280"/>
            <a:ext cx="7863840" cy="45720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68680" y="5769864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238"/>
                </a:solidFill>
                <a:latin typeface="Segoe UI"/>
              </a:rPr>
              <a:t>Una transicion ilegal lanza ValidationError con mensaje concreto; el dato nunca se corrompe.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INSTRUCCION 2 — FRONTEND, BACKEND Y PERSISTENCIA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Arquitectura del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2487168" cy="16916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1554480"/>
            <a:ext cx="2487168" cy="54864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7" y="17739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9ABE2"/>
                </a:solidFill>
                <a:latin typeface="Segoe U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2996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238"/>
                </a:solidFill>
                <a:latin typeface="Segoe UI"/>
              </a:rPr>
              <a:t>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Plantillas HTML, catalogo, formularios y dashboards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09544" y="2286000"/>
            <a:ext cx="256032" cy="219456"/>
          </a:xfrm>
          <a:prstGeom prst="rightArrow">
            <a:avLst/>
          </a:prstGeom>
          <a:solidFill>
            <a:srgbClr val="D8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465576" y="1554480"/>
            <a:ext cx="2487168" cy="16916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465576" y="1554480"/>
            <a:ext cx="2487168" cy="54864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48456" y="17739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C4EB3"/>
                </a:solidFill>
                <a:latin typeface="Segoe U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02996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238"/>
                </a:solidFill>
                <a:latin typeface="Segoe UI"/>
              </a:rPr>
              <a:t>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5146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Atiende la peticion, valida permisos y delega al modelo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16752" y="2286000"/>
            <a:ext cx="256032" cy="219456"/>
          </a:xfrm>
          <a:prstGeom prst="rightArrow">
            <a:avLst/>
          </a:prstGeom>
          <a:solidFill>
            <a:srgbClr val="D8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72783" y="1554480"/>
            <a:ext cx="2487168" cy="16916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72783" y="1554480"/>
            <a:ext cx="2487168" cy="54864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55664" y="17739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9F1E"/>
                </a:solidFill>
                <a:latin typeface="Segoe UI"/>
              </a:rPr>
              <a:t>DOMINIO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02996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238"/>
                </a:solidFill>
                <a:latin typeface="Segoe UI"/>
              </a:rPr>
              <a:t>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146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Entidades, patrones de diseno y reglas de negocio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23959" y="2286000"/>
            <a:ext cx="256032" cy="219456"/>
          </a:xfrm>
          <a:prstGeom prst="rightArrow">
            <a:avLst/>
          </a:prstGeom>
          <a:solidFill>
            <a:srgbClr val="D8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079992" y="1554480"/>
            <a:ext cx="2487168" cy="16916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079992" y="1554480"/>
            <a:ext cx="2487168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62872" y="17739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9E6B"/>
                </a:solidFill>
                <a:latin typeface="Segoe UI"/>
              </a:rPr>
              <a:t>PERSISTENCIA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202996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238"/>
                </a:solidFill>
                <a:latin typeface="Segoe UI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251460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11 tablas de negocio con constraints del DDL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520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LAS CUATRO APPS DEL PROYECTO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58368" y="3840480"/>
          <a:ext cx="6766560" cy="2176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/>
                <a:gridCol w="5120640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App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Responsabilidad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config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Arranque del proyecto: configuracion general, rutas principales y conexion a la base de datos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usuarios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Login y personas del sistema: cliente, agente y administrador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vehiculos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Catalogo: tipos, ficha del vehiculo, fotos y favoritos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reservas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Proceso de renta: planes, solicitudes, propuestas, estados y calculo de tarifas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726679" y="3520440"/>
            <a:ext cx="3813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9F1E"/>
                </a:solidFill>
                <a:latin typeface="Segoe UI"/>
              </a:rPr>
              <a:t>DECISION CLAVE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3840480"/>
            <a:ext cx="3813048" cy="228600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726679" y="3840480"/>
            <a:ext cx="50292" cy="228600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973568" y="4023360"/>
            <a:ext cx="34290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Los patrones viven en el modelo, no en la vista.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La vista de aceptar una reserva tiene una sola linea de negocio: reserva.aceptar(). El resto son permisos y mensajes.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Si manana cambia la regla de que estado puede aceptar, esa vista no se toca.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11 TABLAS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Modelo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3566160" cy="3063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1554480"/>
            <a:ext cx="3566160" cy="54864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17830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Usuarios y roles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2212848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2415" y="2276856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usuario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2615184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42415" y="2679191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administrador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017520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42415" y="3081527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cliente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3419856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42415" y="3483863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agente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2336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Herencia por extension: usuario mas tabla de rol, en vez de una sola tabla ancha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1" y="1554480"/>
            <a:ext cx="3566160" cy="3063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70831" y="1554480"/>
            <a:ext cx="3566160" cy="54864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99431" y="17830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Catalogo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9431" y="2212848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754879" y="2276856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tipo_vehiculo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9431" y="2615184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54879" y="2679191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vehiculo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1" y="3017520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54879" y="3081527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foto_vehiculo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9431" y="3419856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54879" y="3483863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favorito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1" y="402336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Ficha del vehiculo, estado operativo, imagenes y relacion cliente-vehiculo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83296" y="1554480"/>
            <a:ext cx="3566160" cy="3063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083296" y="1554480"/>
            <a:ext cx="3566160" cy="54864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11896" y="178308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02238"/>
                </a:solidFill>
                <a:latin typeface="Segoe UI"/>
              </a:rPr>
              <a:t>Renta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11896" y="2212848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67344" y="2276856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plan_renta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11896" y="2615184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67344" y="2679191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reserva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11896" y="3017520"/>
            <a:ext cx="3108960" cy="329184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467344" y="3081527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AAD"/>
                </a:solidFill>
                <a:latin typeface="Consolas"/>
              </a:rPr>
              <a:t>propuesta_renta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402336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plan_renta trae el discriminador del Factory; reserva es el Context del 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800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DECISIONES DE DISENO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120640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29ABE2"/>
                </a:solidFill>
                <a:latin typeface="Segoe UI"/>
              </a:rPr>
              <a:t>▪  </a:t>
            </a:r>
            <a:r>
              <a:rPr sz="1250">
                <a:solidFill>
                  <a:srgbClr val="1F2937"/>
                </a:solidFill>
                <a:latin typeface="Segoe UI"/>
              </a:rPr>
              <a:t>Estados de vehiculo y reserva como VARCHAR con CHECK, alineados al patron State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29ABE2"/>
                </a:solidFill>
                <a:latin typeface="Segoe UI"/>
              </a:rPr>
              <a:t>▪  </a:t>
            </a:r>
            <a:r>
              <a:rPr sz="1250">
                <a:solidFill>
                  <a:srgbClr val="1F2937"/>
                </a:solidFill>
                <a:latin typeface="Segoe UI"/>
              </a:rPr>
              <a:t>Snapshot de precios en reserva: aceptada una renta, no se recalcula con tarifas futuras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80060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9F1E"/>
                </a:solidFill>
                <a:latin typeface="Segoe UI"/>
              </a:rPr>
              <a:t>EL DDL MANDA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5120640"/>
            <a:ext cx="5074920" cy="100584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656832" y="525780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El esquema se diseno primero en SQL. Los modelos usan managed = False: las migraciones de negocio no reescriben el esquema, solo lo reflejan. Django agrego 7 tablas propias de infraestructura.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14 RF CON PLANTILLA IEEE 830 / ISO 29148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Requerimientos funcionales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447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Cada RF se documento con ID, funcion, descripcion, entradas, fuentes, salida, destino, accion, precondicion, postcondicion y prioridad, y se asocio a su caso de uso.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74519"/>
          <a:ext cx="5349239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98394"/>
                <a:gridCol w="2395182"/>
                <a:gridCol w="878233"/>
                <a:gridCol w="479036"/>
                <a:gridCol w="798394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Funcion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Actor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CDU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Prioridad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RF-001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Registro de cliente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Cliente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RF-002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Autenticacion de usuarios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Todos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02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RF-003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Actualizacion de datos del cliente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Cliente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Media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RF-004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Busqueda y consulta de vehiculos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Cliente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04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RF-005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Gestion de favoritos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Cliente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05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Media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RF-006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Solicitud de reserva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Cliente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06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RF-007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Respuesta del cliente a la propuesta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Cliente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07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874519"/>
          <a:ext cx="5367525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01123"/>
                <a:gridCol w="2403370"/>
                <a:gridCol w="881235"/>
                <a:gridCol w="480674"/>
                <a:gridCol w="801123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Funcion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Actor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CDU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Prioridad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RF-008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Gestion de vehiculos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Agente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08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RF-009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Gestion de tipos de vehiculo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Agente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09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Media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RF-010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Dashboard del agente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Agente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RF-011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Propuesta de horario de entrega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Agente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RF-012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Creacion de agentes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RF-013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Baja de agentes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RF-014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Calculo de tarifas segun plan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Sistema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07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58368" y="4572000"/>
            <a:ext cx="10881360" cy="150876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4572000"/>
            <a:ext cx="50292" cy="150876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4736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EJEMPLO — RF-007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10912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Accion:  aplicar la transicion de estado correspondiente; al aceptar, calcular la tarifa y marcar el vehiculo como RESERVADO; al rechazar, exigir motivo y dejar el vehiculo DISPONIBLE.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F2937"/>
                </a:solidFill>
                <a:latin typeface="Segoe UI"/>
              </a:rPr>
              <a:t>Precondicion:  la reserva debe estar en estado PROPUESTA con horario propuesto.        Postcondicion:  la reserva queda en ACEPTADA o RECHAZADA.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15 CASOS DE USO, AGRUPADOS POR MODULO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Casos de uso de alto nivel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36192"/>
            <a:ext cx="3566160" cy="3840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1536192"/>
            <a:ext cx="3566160" cy="54864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175564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238"/>
                </a:solidFill>
                <a:latin typeface="Segoe UI"/>
              </a:rPr>
              <a:t>Modulo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66543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Segoe UI"/>
              </a:rPr>
              <a:t>7 casos de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9572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Consolas"/>
              </a:rPr>
              <a:t>CDU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39572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Registrar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7977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Consolas"/>
              </a:rPr>
              <a:t>CDU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277977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Iniciar sesion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163824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Consolas"/>
              </a:rPr>
              <a:t>CDU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316382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Actualizar datos personales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54787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Consolas"/>
              </a:rPr>
              <a:t>CDU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354787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Buscar y consultar vehiculos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3192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Consolas"/>
              </a:rPr>
              <a:t>CDU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9928" y="393192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Gestionar favoritos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31596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Consolas"/>
              </a:rPr>
              <a:t>CDU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431596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Solicitar reserva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70001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9ABE2"/>
                </a:solidFill>
                <a:latin typeface="Consolas"/>
              </a:rPr>
              <a:t>CDU 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70001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Aceptar o rechazar propuesta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1" y="1536192"/>
            <a:ext cx="3566160" cy="3840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370831" y="1536192"/>
            <a:ext cx="3566160" cy="54864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99431" y="175564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238"/>
                </a:solidFill>
                <a:latin typeface="Segoe UI"/>
              </a:rPr>
              <a:t>Modulo Agente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2066543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4EB3"/>
                </a:solidFill>
                <a:latin typeface="Segoe UI"/>
              </a:rPr>
              <a:t>6 casos de uso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239572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4EB3"/>
                </a:solidFill>
                <a:latin typeface="Consolas"/>
              </a:rPr>
              <a:t>CDU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2392" y="239572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Gestionar vehiculos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1" y="277977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4EB3"/>
                </a:solidFill>
                <a:latin typeface="Consolas"/>
              </a:rPr>
              <a:t>CDU 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22392" y="277977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Gestionar tipos de vehiculo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1" y="3163824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4EB3"/>
                </a:solidFill>
                <a:latin typeface="Consolas"/>
              </a:rPr>
              <a:t>CDU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2392" y="316382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Consultar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1" y="3547872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4EB3"/>
                </a:solidFill>
                <a:latin typeface="Consolas"/>
              </a:rPr>
              <a:t>CDU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2392" y="354787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Proponer horario de entrega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9431" y="3931920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4EB3"/>
                </a:solidFill>
                <a:latin typeface="Consolas"/>
              </a:rPr>
              <a:t>CDU 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2392" y="393192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Entregar vehiculo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1" y="431596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C4EB3"/>
                </a:solidFill>
                <a:latin typeface="Consolas"/>
              </a:rPr>
              <a:t>CDU 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2392" y="431596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Finalizar renta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83296" y="1536192"/>
            <a:ext cx="3566160" cy="3840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083296" y="1536192"/>
            <a:ext cx="3566160" cy="54864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311896" y="175564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238"/>
                </a:solidFill>
                <a:latin typeface="Segoe UI"/>
              </a:rPr>
              <a:t>Modulo Administrador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6" y="2066543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09F1E"/>
                </a:solidFill>
                <a:latin typeface="Segoe UI"/>
              </a:rPr>
              <a:t>2 casos de uso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1896" y="2395728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09F1E"/>
                </a:solidFill>
                <a:latin typeface="Consolas"/>
              </a:rPr>
              <a:t>CDU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34856" y="239572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Crear agente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1896" y="2779776"/>
            <a:ext cx="777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09F1E"/>
                </a:solidFill>
                <a:latin typeface="Consolas"/>
              </a:rPr>
              <a:t>CDU 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34856" y="277977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Dar de baja agente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5532120"/>
            <a:ext cx="10881360" cy="566928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4400" y="566928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Los diagramas UML por modulo y los 15 casos de uso expandidos, con flujo normal y flujos alternativos, estan en el manual tecnico (secciones 7 y 8).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CDU 07 — ACEPTAR O RECHAZAR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Caso de uso expandido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536192"/>
          <a:ext cx="10881360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9052560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Contenido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Actor principal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Cliente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Precondicion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La reserva esta en estado PROPUESTA y tiene horario propuesto por el agente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Postcondicion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La reserva queda en ACEPTADA con precio calculado, o en RECHAZADA con motivo registrado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32186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9E6B"/>
                </a:solidFill>
                <a:latin typeface="Segoe UI"/>
              </a:rPr>
              <a:t>FLUJO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47872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E6B"/>
                </a:solidFill>
                <a:latin typeface="Consolas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54787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El cliente abre la propuesta pendiente y revisa horario y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886200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E6B"/>
                </a:solidFill>
                <a:latin typeface="Consolas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88620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Selecciona aceptar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24528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E6B"/>
                </a:solidFill>
                <a:latin typeface="Consolas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8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El sistema valida la transicion con el patron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62856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E6B"/>
                </a:solidFill>
                <a:latin typeface="Consolas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56285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Obtiene la Strategy del plan via Factory Method y calcula el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901184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E6B"/>
                </a:solidFill>
                <a:latin typeface="Consolas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9011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Guarda el snapshot de precios y marca el vehiculo como RESERVADO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39512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E6B"/>
                </a:solidFill>
                <a:latin typeface="Consolas"/>
              </a:rP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23951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Muestra la confirmacion con el total calculado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21868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0393D"/>
                </a:solidFill>
                <a:latin typeface="Segoe UI"/>
              </a:rPr>
              <a:t>FLUJOS ALTERNATIVOS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547872"/>
            <a:ext cx="5257800" cy="758952"/>
          </a:xfrm>
          <a:prstGeom prst="rect">
            <a:avLst/>
          </a:prstGeom>
          <a:solidFill>
            <a:srgbClr val="F2F7FB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63640" y="3547872"/>
            <a:ext cx="50292" cy="758952"/>
          </a:xfrm>
          <a:prstGeom prst="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73952" y="364845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0393D"/>
                </a:solidFill>
                <a:latin typeface="Consolas"/>
              </a:rPr>
              <a:t>2a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3931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238"/>
                </a:solidFill>
                <a:latin typeface="Segoe UI"/>
              </a:rPr>
              <a:t>El cliente selecciona rechazar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91363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El sistema exige un motivo; la reserva pasa a RECHAZADA y el vehiculo vuelve a DISPONIBLE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370832"/>
            <a:ext cx="5257800" cy="758952"/>
          </a:xfrm>
          <a:prstGeom prst="rect">
            <a:avLst/>
          </a:prstGeom>
          <a:solidFill>
            <a:srgbClr val="F2F7FB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263640" y="4370832"/>
            <a:ext cx="50292" cy="758952"/>
          </a:xfrm>
          <a:prstGeom prst="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73952" y="447141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0393D"/>
                </a:solidFill>
                <a:latin typeface="Consolas"/>
              </a:rPr>
              <a:t>2b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46227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238"/>
                </a:solidFill>
                <a:latin typeface="Segoe UI"/>
              </a:rPr>
              <a:t>Motivo vacio en el rechazo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73659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Se bloquea la operacion; lo garantiza tambien el constraint chk_motivo_si_rechazada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193792"/>
            <a:ext cx="5257800" cy="758952"/>
          </a:xfrm>
          <a:prstGeom prst="rect">
            <a:avLst/>
          </a:prstGeom>
          <a:solidFill>
            <a:srgbClr val="F2F7FB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63640" y="5193792"/>
            <a:ext cx="50292" cy="758952"/>
          </a:xfrm>
          <a:prstGeom prst="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73952" y="52943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0393D"/>
                </a:solidFill>
                <a:latin typeface="Consolas"/>
              </a:rPr>
              <a:t>3a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28523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238"/>
                </a:solidFill>
                <a:latin typeface="Segoe UI"/>
              </a:rPr>
              <a:t>La reserva ya no esta en PROPUESTA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55955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El State lanza ValidationError con mensaje concreto y la vista lo muestra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23560"/>
            <a:ext cx="5212080" cy="475488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68680" y="57332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Todo el flujo corre dentro de una transaccion atomica.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10 RNF CON METRICA Y CRITERIO DE ACEPTACION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Requerimientos no funcionales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447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Cada RNF se describio de forma clara, medible y verificable, y se ancla a los casos de uso expandidos donde se comprueba.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" y="1810512"/>
          <a:ext cx="10881360" cy="3986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8680"/>
                <a:gridCol w="2377440"/>
                <a:gridCol w="6675120"/>
                <a:gridCol w="960120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Atributo de calidad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Criterio de aceptacion medible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Prioridad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RNF-01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Integridad y unicidad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Correo y placa unicos; toda violacion de un CHECK produce error de validacion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RNF-02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Seguridad de autenticacion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Contrasena en hash; el login fallido no revela si el correo existe; CSRF activo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RNF-03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Control de acceso por rol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Un cliente no puede crear agentes ni modificar vehiculos de otro agente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RNF-04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Consistencia de estados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El 100 % de los intentos de transicion ilegal termina en error controlado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RNF-05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Tiempo de respuesta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Login, listado y creacion de reserva bajo 3 segundos con menos de 1 000 vehiculos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RNF-06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Disponibilidad de datos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Sin PostgreSQL la aplicacion falla de forma controlada y no corrompe el esquema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RNF-07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Exactitud del calculo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10 dias en plan semanal con 10 % de descuento coincide con la formula documentada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RNF-08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Mantenibilidad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Agregar un plan implica una Strategy y una entrada en el Factory, sin tocar el Context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Media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RNF-09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Usabilidad basica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Un usuario de prueba completa CDU 01, 06 y 07 con instrucciones minimas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Media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F2937"/>
                          </a:solidFill>
                          <a:latin typeface="Segoe UI"/>
                        </a:rPr>
                        <a:t>RNF-10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Trazabilidad de propuestas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Tras CDU 11 existe una fila historica en propuesta_renta ligada a la reserva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Segoe UI"/>
                        </a:rPr>
                        <a:t>Media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" y="58978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Cada criterio se redacto para poder verificarse en el demo; la ficha completa de cada RNF esta en la seccion 9 del manual tecnico.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INSTRUCCION 3 — GIT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Estrategia de branching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36192"/>
            <a:ext cx="10881360" cy="1371600"/>
          </a:xfrm>
          <a:prstGeom prst="rect">
            <a:avLst/>
          </a:prstGeom>
          <a:solidFill>
            <a:srgbClr val="F2F7FB"/>
          </a:solidFill>
          <a:ln w="9525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737360" cy="457200"/>
          </a:xfrm>
          <a:prstGeom prst="round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195681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feature/*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88920" y="1929384"/>
            <a:ext cx="777240" cy="256032"/>
          </a:xfrm>
          <a:prstGeom prst="rightArrow">
            <a:avLst/>
          </a:prstGeom>
          <a:solidFill>
            <a:srgbClr val="D8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3200" y="160934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merge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1828800"/>
            <a:ext cx="1737360" cy="457200"/>
          </a:xfrm>
          <a:prstGeom prst="round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03320" y="195681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577840" y="1929384"/>
            <a:ext cx="777240" cy="256032"/>
          </a:xfrm>
          <a:prstGeom prst="rightArrow">
            <a:avLst/>
          </a:prstGeom>
          <a:solidFill>
            <a:srgbClr val="D8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532120" y="160934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828800"/>
            <a:ext cx="1737360" cy="45720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0" y="195681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828800"/>
            <a:ext cx="1737360" cy="457200"/>
          </a:xfrm>
          <a:prstGeom prst="round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95360" y="195681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hotfix/*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35915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nace de main, vuelve a main y develop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395728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937"/>
                </a:solidFill>
                <a:latin typeface="Segoe UI"/>
              </a:rPr>
              <a:t>Cada feature nace de develop y regresa a develop. Cuando varias features quedan consolidadas, develop se fusiona a main.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0632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CONVENCIONES DEL EQUIPO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58368" y="3383280"/>
          <a:ext cx="5212080" cy="1883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3474720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Elemento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Convencion</a:t>
                      </a:r>
                    </a:p>
                  </a:txBody>
                  <a:tcPr marL="82296" marR="64008" marT="27432" marB="27432" anchor="ctr">
                    <a:solidFill>
                      <a:srgbClr val="10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Rama feature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feature/&lt;nombre&gt;-&lt;carne&gt;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Rama hotfix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hotfix/&lt;descripcion&gt;-&lt;carne&gt;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Commit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#carne: mensaje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Ejemplo real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201900131: feat(vehiculos) catalogo y flota</a:t>
                      </a:r>
                    </a:p>
                  </a:txBody>
                  <a:tcPr marL="82296" marR="64008" marT="27432" marB="27432" anchor="ctr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263640" y="306324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9E6B"/>
                </a:solidFill>
                <a:latin typeface="Segoe UI"/>
              </a:rPr>
              <a:t>EVIDENCIA EN EL REPOSITORIO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383280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7AAD"/>
                </a:solidFill>
                <a:latin typeface="Consolas"/>
              </a:rPr>
              <a:t>•  feature/setup-django_201905884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639312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7AAD"/>
                </a:solidFill>
                <a:latin typeface="Consolas"/>
              </a:rPr>
              <a:t>•  feature/database-202112395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895344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7AAD"/>
                </a:solidFill>
                <a:latin typeface="Consolas"/>
              </a:rPr>
              <a:t>•  feature/usuarios-models-201905884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151376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7AAD"/>
                </a:solidFill>
                <a:latin typeface="Consolas"/>
              </a:rPr>
              <a:t>•  feature/vehiculos-models-201905884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407408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7AAD"/>
                </a:solidFill>
                <a:latin typeface="Consolas"/>
              </a:rPr>
              <a:t>•  feature/reservas-models-201905884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663440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7AAD"/>
                </a:solidFill>
                <a:latin typeface="Consolas"/>
              </a:rPr>
              <a:t>•  feature/design-patterns-201905884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919472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7AAD"/>
                </a:solidFill>
                <a:latin typeface="Consolas"/>
              </a:rPr>
              <a:t>•  feature/cliente-agente-201801521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175504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7AAD"/>
                </a:solidFill>
                <a:latin typeface="Consolas"/>
              </a:rPr>
              <a:t>•  feature/frontend-base-201900131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431536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E7AAD"/>
                </a:solidFill>
                <a:latin typeface="Consolas"/>
              </a:rPr>
              <a:t>•  feature/documentacionv3-201701078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349240"/>
            <a:ext cx="5212080" cy="77724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68680" y="54864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Las ramas de feature no se eliminaron, tal como exige el enunciado. Los cinco integrantes tienen commits validos.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LO QUE SE SUBE A UEDI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Entregables y documentacion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54480"/>
            <a:ext cx="265176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1554480"/>
            <a:ext cx="2651760" cy="54864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9536" y="181051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238"/>
                </a:solidFill>
                <a:latin typeface="Segoe UI"/>
              </a:rPr>
              <a:t>Repositorio privado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" y="2212848"/>
            <a:ext cx="2286000" cy="31089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AAD"/>
                </a:solidFill>
                <a:latin typeface="Consolas"/>
              </a:rPr>
              <a:t>AYD2_A_2S2026_PRACTICA1_G2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69748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Con el auxiliar de la seccion A (kjhg4589) agregado como colaborador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6432" y="1554480"/>
            <a:ext cx="265176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456432" y="1554480"/>
            <a:ext cx="2651760" cy="54864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57600" y="181051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238"/>
                </a:solidFill>
                <a:latin typeface="Segoe UI"/>
              </a:rPr>
              <a:t>Manual tecnico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212848"/>
            <a:ext cx="2286000" cy="31089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58184" y="22860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AAD"/>
                </a:solidFill>
                <a:latin typeface="Consolas"/>
              </a:rPr>
              <a:t>docs/MANUAL_TECNICO.md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69748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Formato markdown dentro del repositorio, como exige el enunciado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1554480"/>
            <a:ext cx="265176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54496" y="1554480"/>
            <a:ext cx="2651760" cy="54864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55664" y="181051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238"/>
                </a:solidFill>
                <a:latin typeface="Segoe UI"/>
              </a:rPr>
              <a:t>Diagramas UML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5664" y="2212848"/>
            <a:ext cx="2286000" cy="31089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56248" y="22860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AAD"/>
                </a:solidFill>
                <a:latin typeface="Consolas"/>
              </a:rPr>
              <a:t>docs/diagramas/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69748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Patrones (clases, estados y secuencia) y modelo entidad-relacion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554480"/>
            <a:ext cx="265176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052560" y="1554480"/>
            <a:ext cx="2651760" cy="548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53728" y="181051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238"/>
                </a:solidFill>
                <a:latin typeface="Segoe UI"/>
              </a:rPr>
              <a:t>Demo funcional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53728" y="2212848"/>
            <a:ext cx="2286000" cy="31089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54312" y="22860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7AAD"/>
                </a:solidFill>
                <a:latin typeface="Consolas"/>
              </a:rPr>
              <a:t>Django + 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269748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Frontend, backend y persistencia con datos de demostracion cargados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931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CONTENIDO DEL MANUAL TECNICO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279392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5528" y="4334255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1. Introduccion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56432" y="4279392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593592" y="4334255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2. Descripcion del sistema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4496" y="4279392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91656" y="4334255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3. Metodologia Git 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4279392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89720" y="4334255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4. Seleccion de framework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681728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95528" y="47365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5. Patrones de diseno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56432" y="4681728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593592" y="47365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6. Requerimientos funcionales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54496" y="4681728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391656" y="47365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7. Casos de uso de alto nivel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681728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189720" y="4736592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8. Casos de uso expandidos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084064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95528" y="513892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9. Requerimientos no funcionales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56432" y="5084064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593592" y="513892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10. Modelo de datos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54496" y="5084064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391656" y="513892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11. Arquitectura de la solucion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5084064"/>
            <a:ext cx="2651760" cy="329184"/>
          </a:xfrm>
          <a:prstGeom prst="rect">
            <a:avLst/>
          </a:prstGeom>
          <a:solidFill>
            <a:srgbClr val="F2F7FB"/>
          </a:solidFill>
          <a:ln w="762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189720" y="513892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Segoe UI"/>
              </a:rPr>
              <a:t>12. Referencias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5623560"/>
            <a:ext cx="10881360" cy="50292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14400" y="574243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Participacion verificable: cada integrante tiene al menos un commit valido, con contenido real, bajo el formato #carne: mensaje.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QUE SE VA A MOSTRAR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Recorrido de la demostracion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108813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1572768"/>
            <a:ext cx="50292" cy="56692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14400" y="1682495"/>
            <a:ext cx="347472" cy="3474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172821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Registro y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1700784"/>
            <a:ext cx="914400" cy="310896"/>
          </a:xfrm>
          <a:prstGeom prst="round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023360" y="1755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73736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Alta con correo unico, licencia y fotografia; ingreso con credenciales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212848"/>
            <a:ext cx="108813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2212848"/>
            <a:ext cx="50292" cy="56692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14400" y="2322576"/>
            <a:ext cx="347472" cy="3474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" y="237744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236829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Catalogo y favoritos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2340864"/>
            <a:ext cx="914400" cy="310896"/>
          </a:xfrm>
          <a:prstGeom prst="round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023360" y="23957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Cliente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37744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Busqueda de vehiculos, ficha completa y marcado de favoritos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852928"/>
            <a:ext cx="108813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" y="2852928"/>
            <a:ext cx="50292" cy="56692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14400" y="2962656"/>
            <a:ext cx="347472" cy="3474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301752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30083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Solicitud de reserva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2980944"/>
            <a:ext cx="914400" cy="310896"/>
          </a:xfrm>
          <a:prstGeom prst="round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023360" y="303580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Cliente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0175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Fecha, hora, direccion de entrega y cantidad de dias → estado SOLICITADA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493008"/>
            <a:ext cx="108813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58368" y="3493008"/>
            <a:ext cx="50292" cy="566928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14400" y="3602736"/>
            <a:ext cx="347472" cy="347472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365760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4752" y="36484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Dashboard y propuesta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0" y="3621024"/>
            <a:ext cx="914400" cy="310896"/>
          </a:xfrm>
          <a:prstGeom prst="round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023360" y="367588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Agente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365760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Vehiculos disponibles, reservados y en renta; propuesta de horario → PROPUESTA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133088"/>
            <a:ext cx="108813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58368" y="4133088"/>
            <a:ext cx="50292" cy="566928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914400" y="4242816"/>
            <a:ext cx="347472" cy="347472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14400" y="429768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44752" y="428853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Aceptacion y calculo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0" y="4261104"/>
            <a:ext cx="914400" cy="310896"/>
          </a:xfrm>
          <a:prstGeom prst="round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023360" y="43159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Cliente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42976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Aceptar dispara State + Factory + Strategy y fija el precio total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4773168"/>
            <a:ext cx="108813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58368" y="4773168"/>
            <a:ext cx="50292" cy="56692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914400" y="4882896"/>
            <a:ext cx="347472" cy="3474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4400" y="493776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44752" y="492861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Entrega y cierre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23360" y="4901184"/>
            <a:ext cx="914400" cy="310896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023360" y="49560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Agente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66360" y="493776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EN_RENTA y luego FINALIZADA, con el vehiculo sincronizado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413248"/>
            <a:ext cx="108813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658368" y="5413248"/>
            <a:ext cx="50292" cy="566928"/>
          </a:xfrm>
          <a:prstGeom prst="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914400" y="5522976"/>
            <a:ext cx="347472" cy="347472"/>
          </a:xfrm>
          <a:prstGeom prst="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4400" y="5577840"/>
            <a:ext cx="347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44752" y="556869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Gestion de agentes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023360" y="5541264"/>
            <a:ext cx="914400" cy="310896"/>
          </a:xfrm>
          <a:prstGeom prst="round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023360" y="559612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66360" y="557784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Alta y baja de agentes de renta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9ABE2"/>
                </a:solidFill>
                <a:latin typeface="Segoe UI"/>
              </a:rPr>
              <a:t>LO QUE CONVIENE TENER RESUELTO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238"/>
                </a:solidFill>
                <a:latin typeface="Segoe UI"/>
              </a:rPr>
              <a:t>Preguntas anticipadas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3584"/>
            <a:ext cx="960120" cy="457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AutoRent Express S.A.  ·  Practica 1  ·  Grupo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536192"/>
            <a:ext cx="5349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1536192"/>
            <a:ext cx="50292" cy="1417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1682495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Por que tres patrones si se pedia uno?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39112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El dominio los pidio: ciclo de vida y calculo de precio son problemas distintos. Con solo State se cumplia, pero el precio habria quedado con condicionales dentro de Reserva.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536192"/>
            <a:ext cx="5349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90488" y="1536192"/>
            <a:ext cx="50292" cy="1417320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9088" y="1682495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Ese Factory Method es realmente el del GoF?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039112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Es la variante parametrizada que el propio GoF describe: un metodo que recibe un identificador. Se eligio porque el discriminador ya existia como columna en la 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72384"/>
            <a:ext cx="5349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3072384"/>
            <a:ext cx="50292" cy="1417320"/>
          </a:xfrm>
          <a:prstGeom prst="rect">
            <a:avLst/>
          </a:prstGeom>
          <a:solidFill>
            <a:srgbClr val="C03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6968" y="32186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Que pasa con una transicion ilegal?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575304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Se lanza ValidationError con mensaje concreto, por ejemplo 'no se puede aceptar una reserva en estado EN_RENTA'. Todo corre en transaction.atomic, el dato no se corrompe.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072384"/>
            <a:ext cx="5349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190488" y="3072384"/>
            <a:ext cx="50292" cy="14173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19088" y="32186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Como agregarian un plan nuevo?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575304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Tres pasos sin tocar Reserva ni las vistas: una clase TarifaQuincenal, una entrada en _PRODUCTOS y una fila en plan_renta.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608576"/>
            <a:ext cx="5349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" y="4608576"/>
            <a:ext cx="50292" cy="1417320"/>
          </a:xfrm>
          <a:prstGeom prst="rect">
            <a:avLst/>
          </a:prstGeom>
          <a:solidFill>
            <a:srgbClr val="6C4E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86968" y="47548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State y Strategy no son lo mismo?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111496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Misma estructura, distinta intencion: en State el objeto esta en una situacion y el patron decide la siguiente; en Strategy usa un algoritmo elegido desde afuera.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4608576"/>
            <a:ext cx="53492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90488" y="4608576"/>
            <a:ext cx="50292" cy="141732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19088" y="47548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238"/>
                </a:solidFill>
                <a:latin typeface="Segoe UI"/>
              </a:rPr>
              <a:t>Por que no guardaron el objeto de estado en la base?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111496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No tiene datos propios, solo comportamiento. Se guarda el codigo y se reconstruye el objeto con EstadoReserva.crear().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9ABE2"/>
                </a:solidFill>
                <a:latin typeface="Segoe UI"/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960120" cy="54864"/>
          </a:xfrm>
          <a:prstGeom prst="rect">
            <a:avLst/>
          </a:prstGeom>
          <a:solidFill>
            <a:srgbClr val="E09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Lo que deja la practica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50592"/>
            <a:ext cx="45720" cy="7315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9ABE2"/>
                </a:solidFill>
                <a:latin typeface="Segoe UI"/>
              </a:rP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7802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D4E2EE"/>
                </a:solidFill>
                <a:latin typeface="Segoe UI"/>
              </a:rPr>
              <a:t>Django 6.0.7 con PostgreSQL cubrio frontend, backend, ORM y autenticacion en un solo stack, dejando espacio para los patrones en el dominio.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19272"/>
            <a:ext cx="45720" cy="7315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9ABE2"/>
                </a:solidFill>
                <a:latin typeface="Segoe UI"/>
              </a:rPr>
              <a:t>Patrones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46703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D4E2EE"/>
                </a:solidFill>
                <a:latin typeface="Segoe UI"/>
              </a:rPr>
              <a:t>State, Strategy y Factory Method colaboran en una sola operacion: cero condicionales sobre el estado dentro de Reserva.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87952"/>
            <a:ext cx="45720" cy="7315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9ABE2"/>
                </a:solidFill>
                <a:latin typeface="Segoe UI"/>
              </a:rPr>
              <a:t>Extensibilidad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21538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D4E2EE"/>
                </a:solidFill>
                <a:latin typeface="Segoe UI"/>
              </a:rPr>
              <a:t>Agregar un plan o un estado es escribir una clase y registrarla; las clases existentes no se modifican.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56632"/>
            <a:ext cx="45720" cy="7315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9ABE2"/>
                </a:solidFill>
                <a:latin typeface="Segoe UI"/>
              </a:rPr>
              <a:t>Proceso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084064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D4E2EE"/>
                </a:solidFill>
                <a:latin typeface="Segoe UI"/>
              </a:rPr>
              <a:t>Git Flow con main, develop y ramas feature por integrante, con commits trazables bajo el formato #carne: mensaje.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943600"/>
            <a:ext cx="10515600" cy="18288"/>
          </a:xfrm>
          <a:prstGeom prst="rect">
            <a:avLst/>
          </a:prstGeom>
          <a:solidFill>
            <a:srgbClr val="2E4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6126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Gracias. Preguntas?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144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9FB4C8"/>
                </a:solidFill>
                <a:latin typeface="Segoe UI"/>
              </a:rPr>
              <a:t>Grupo 2  ·  Seccion A  ·  2S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